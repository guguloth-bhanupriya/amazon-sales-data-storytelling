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4"/>
  </p:notesMasterIdLst>
  <p:sldIdLst>
    <p:sldId id="256" r:id="rId2"/>
    <p:sldId id="259" r:id="rId3"/>
    <p:sldId id="260" r:id="rId4"/>
    <p:sldId id="261" r:id="rId5"/>
    <p:sldId id="262" r:id="rId6"/>
    <p:sldId id="263" r:id="rId7"/>
    <p:sldId id="264" r:id="rId8"/>
    <p:sldId id="265" r:id="rId9"/>
    <p:sldId id="266" r:id="rId10"/>
    <p:sldId id="267" r:id="rId11"/>
    <p:sldId id="268"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p:scale>
          <a:sx n="75" d="100"/>
          <a:sy n="75" d="100"/>
        </p:scale>
        <p:origin x="97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4F63D6-E26D-4D76-A8C9-61E5870A58E6}" type="datetimeFigureOut">
              <a:rPr lang="en-IN" smtClean="0"/>
              <a:t>06-07-2026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EC1851-1577-4ADE-AA09-98C1F28005F2}" type="slidenum">
              <a:rPr lang="en-IN" smtClean="0"/>
              <a:t>‹#›</a:t>
            </a:fld>
            <a:endParaRPr lang="en-IN"/>
          </a:p>
        </p:txBody>
      </p:sp>
    </p:spTree>
    <p:extLst>
      <p:ext uri="{BB962C8B-B14F-4D97-AF65-F5344CB8AC3E}">
        <p14:creationId xmlns:p14="http://schemas.microsoft.com/office/powerpoint/2010/main" val="382440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3EC1851-1577-4ADE-AA09-98C1F28005F2}" type="slidenum">
              <a:rPr lang="en-IN" smtClean="0"/>
              <a:t>3</a:t>
            </a:fld>
            <a:endParaRPr lang="en-IN"/>
          </a:p>
        </p:txBody>
      </p:sp>
    </p:spTree>
    <p:extLst>
      <p:ext uri="{BB962C8B-B14F-4D97-AF65-F5344CB8AC3E}">
        <p14:creationId xmlns:p14="http://schemas.microsoft.com/office/powerpoint/2010/main" val="2504676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E4299-2453-2EFC-950A-900FB2760F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9D96BB7-48D4-2BFF-0E71-B3401B4A38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C4295A2-AF74-19F2-E06A-6ACF23DDA7A7}"/>
              </a:ext>
            </a:extLst>
          </p:cNvPr>
          <p:cNvSpPr>
            <a:spLocks noGrp="1"/>
          </p:cNvSpPr>
          <p:nvPr>
            <p:ph type="dt" sz="half" idx="10"/>
          </p:nvPr>
        </p:nvSpPr>
        <p:spPr/>
        <p:txBody>
          <a:bodyPr/>
          <a:lstStyle/>
          <a:p>
            <a:fld id="{12CE85C2-8405-4D3F-AA18-1EAF1504CC43}" type="datetimeFigureOut">
              <a:rPr lang="en-IN" smtClean="0"/>
              <a:t>05-07-2026</a:t>
            </a:fld>
            <a:endParaRPr lang="en-IN"/>
          </a:p>
        </p:txBody>
      </p:sp>
      <p:sp>
        <p:nvSpPr>
          <p:cNvPr id="5" name="Footer Placeholder 4">
            <a:extLst>
              <a:ext uri="{FF2B5EF4-FFF2-40B4-BE49-F238E27FC236}">
                <a16:creationId xmlns:a16="http://schemas.microsoft.com/office/drawing/2014/main" id="{663FD864-1C27-D6AD-8759-F205563E91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076E94-3E6C-D742-3272-4AEF52610E7A}"/>
              </a:ext>
            </a:extLst>
          </p:cNvPr>
          <p:cNvSpPr>
            <a:spLocks noGrp="1"/>
          </p:cNvSpPr>
          <p:nvPr>
            <p:ph type="sldNum" sz="quarter" idx="12"/>
          </p:nvPr>
        </p:nvSpPr>
        <p:spPr/>
        <p:txBody>
          <a:bodyPr/>
          <a:lstStyle/>
          <a:p>
            <a:fld id="{B19831FF-6DA0-4C8D-ADF8-E3176743E9FC}" type="slidenum">
              <a:rPr lang="en-IN" smtClean="0"/>
              <a:t>‹#›</a:t>
            </a:fld>
            <a:endParaRPr lang="en-IN"/>
          </a:p>
        </p:txBody>
      </p:sp>
    </p:spTree>
    <p:extLst>
      <p:ext uri="{BB962C8B-B14F-4D97-AF65-F5344CB8AC3E}">
        <p14:creationId xmlns:p14="http://schemas.microsoft.com/office/powerpoint/2010/main" val="3257434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568A3-4BC0-E134-1F53-2696FC01C53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FA12925-1B87-882F-42A9-E307EA9EF6A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F88C17-B1C5-4A39-5018-98C2F8B4AAEA}"/>
              </a:ext>
            </a:extLst>
          </p:cNvPr>
          <p:cNvSpPr>
            <a:spLocks noGrp="1"/>
          </p:cNvSpPr>
          <p:nvPr>
            <p:ph type="dt" sz="half" idx="10"/>
          </p:nvPr>
        </p:nvSpPr>
        <p:spPr/>
        <p:txBody>
          <a:bodyPr/>
          <a:lstStyle/>
          <a:p>
            <a:fld id="{12CE85C2-8405-4D3F-AA18-1EAF1504CC43}" type="datetimeFigureOut">
              <a:rPr lang="en-IN" smtClean="0"/>
              <a:t>05-07-2026</a:t>
            </a:fld>
            <a:endParaRPr lang="en-IN"/>
          </a:p>
        </p:txBody>
      </p:sp>
      <p:sp>
        <p:nvSpPr>
          <p:cNvPr id="5" name="Footer Placeholder 4">
            <a:extLst>
              <a:ext uri="{FF2B5EF4-FFF2-40B4-BE49-F238E27FC236}">
                <a16:creationId xmlns:a16="http://schemas.microsoft.com/office/drawing/2014/main" id="{33A7FCFB-DEE6-BF5A-3B46-DFDE42F0EA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A371B4-35A5-885D-C14C-F9C95C715470}"/>
              </a:ext>
            </a:extLst>
          </p:cNvPr>
          <p:cNvSpPr>
            <a:spLocks noGrp="1"/>
          </p:cNvSpPr>
          <p:nvPr>
            <p:ph type="sldNum" sz="quarter" idx="12"/>
          </p:nvPr>
        </p:nvSpPr>
        <p:spPr/>
        <p:txBody>
          <a:bodyPr/>
          <a:lstStyle/>
          <a:p>
            <a:fld id="{B19831FF-6DA0-4C8D-ADF8-E3176743E9FC}" type="slidenum">
              <a:rPr lang="en-IN" smtClean="0"/>
              <a:t>‹#›</a:t>
            </a:fld>
            <a:endParaRPr lang="en-IN"/>
          </a:p>
        </p:txBody>
      </p:sp>
    </p:spTree>
    <p:extLst>
      <p:ext uri="{BB962C8B-B14F-4D97-AF65-F5344CB8AC3E}">
        <p14:creationId xmlns:p14="http://schemas.microsoft.com/office/powerpoint/2010/main" val="2549172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7BBA7-6345-BAC3-1B24-97C17C1FAA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B0E2CE2-B444-8A16-7E6A-A2F2951D654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9349DD-0848-BA2A-F8B6-460E7874F3A3}"/>
              </a:ext>
            </a:extLst>
          </p:cNvPr>
          <p:cNvSpPr>
            <a:spLocks noGrp="1"/>
          </p:cNvSpPr>
          <p:nvPr>
            <p:ph type="dt" sz="half" idx="10"/>
          </p:nvPr>
        </p:nvSpPr>
        <p:spPr/>
        <p:txBody>
          <a:bodyPr/>
          <a:lstStyle/>
          <a:p>
            <a:fld id="{12CE85C2-8405-4D3F-AA18-1EAF1504CC43}" type="datetimeFigureOut">
              <a:rPr lang="en-IN" smtClean="0"/>
              <a:t>05-07-2026</a:t>
            </a:fld>
            <a:endParaRPr lang="en-IN"/>
          </a:p>
        </p:txBody>
      </p:sp>
      <p:sp>
        <p:nvSpPr>
          <p:cNvPr id="5" name="Footer Placeholder 4">
            <a:extLst>
              <a:ext uri="{FF2B5EF4-FFF2-40B4-BE49-F238E27FC236}">
                <a16:creationId xmlns:a16="http://schemas.microsoft.com/office/drawing/2014/main" id="{64ECC464-D702-31B0-F0E2-BD2A2C337C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EEDCAD-9264-E460-708D-9D0FABA350D5}"/>
              </a:ext>
            </a:extLst>
          </p:cNvPr>
          <p:cNvSpPr>
            <a:spLocks noGrp="1"/>
          </p:cNvSpPr>
          <p:nvPr>
            <p:ph type="sldNum" sz="quarter" idx="12"/>
          </p:nvPr>
        </p:nvSpPr>
        <p:spPr/>
        <p:txBody>
          <a:bodyPr/>
          <a:lstStyle/>
          <a:p>
            <a:fld id="{B19831FF-6DA0-4C8D-ADF8-E3176743E9FC}" type="slidenum">
              <a:rPr lang="en-IN" smtClean="0"/>
              <a:t>‹#›</a:t>
            </a:fld>
            <a:endParaRPr lang="en-IN"/>
          </a:p>
        </p:txBody>
      </p:sp>
    </p:spTree>
    <p:extLst>
      <p:ext uri="{BB962C8B-B14F-4D97-AF65-F5344CB8AC3E}">
        <p14:creationId xmlns:p14="http://schemas.microsoft.com/office/powerpoint/2010/main" val="14233958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64E5F-A002-7F17-F62A-A1998490512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2C58F91-166D-C584-4292-25FC3EC47C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75254D9-5680-A1CC-74CA-509708DCBA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33757E0-30C8-CF43-5ACA-0DACC86F8BA0}"/>
              </a:ext>
            </a:extLst>
          </p:cNvPr>
          <p:cNvSpPr>
            <a:spLocks noGrp="1"/>
          </p:cNvSpPr>
          <p:nvPr>
            <p:ph type="dt" sz="half" idx="10"/>
          </p:nvPr>
        </p:nvSpPr>
        <p:spPr/>
        <p:txBody>
          <a:bodyPr/>
          <a:lstStyle/>
          <a:p>
            <a:fld id="{12CE85C2-8405-4D3F-AA18-1EAF1504CC43}" type="datetimeFigureOut">
              <a:rPr lang="en-IN" smtClean="0"/>
              <a:t>05-07-2026</a:t>
            </a:fld>
            <a:endParaRPr lang="en-IN"/>
          </a:p>
        </p:txBody>
      </p:sp>
      <p:sp>
        <p:nvSpPr>
          <p:cNvPr id="6" name="Footer Placeholder 5">
            <a:extLst>
              <a:ext uri="{FF2B5EF4-FFF2-40B4-BE49-F238E27FC236}">
                <a16:creationId xmlns:a16="http://schemas.microsoft.com/office/drawing/2014/main" id="{911BEC8F-FBEC-3BE6-CA10-2075EF62F3F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1FE33C4-C7B0-9039-16E3-E61825615AF9}"/>
              </a:ext>
            </a:extLst>
          </p:cNvPr>
          <p:cNvSpPr>
            <a:spLocks noGrp="1"/>
          </p:cNvSpPr>
          <p:nvPr>
            <p:ph type="sldNum" sz="quarter" idx="12"/>
          </p:nvPr>
        </p:nvSpPr>
        <p:spPr/>
        <p:txBody>
          <a:bodyPr/>
          <a:lstStyle/>
          <a:p>
            <a:fld id="{B19831FF-6DA0-4C8D-ADF8-E3176743E9FC}" type="slidenum">
              <a:rPr lang="en-IN" smtClean="0"/>
              <a:t>‹#›</a:t>
            </a:fld>
            <a:endParaRPr lang="en-IN"/>
          </a:p>
        </p:txBody>
      </p:sp>
    </p:spTree>
    <p:extLst>
      <p:ext uri="{BB962C8B-B14F-4D97-AF65-F5344CB8AC3E}">
        <p14:creationId xmlns:p14="http://schemas.microsoft.com/office/powerpoint/2010/main" val="2540250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D0F08-FC3B-8E86-EEB5-4AA0A2D5F14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158F84C-3996-B3BD-AC0F-B46BED8383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A8C6A1-873A-ECBD-EC67-40A2C647FB5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36978CD-187B-6B1A-EC9D-AF1E187EF1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C47042-EEE3-1F09-89C7-C1442C343A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78DCD3B-7C17-F1FB-288B-F897447F415F}"/>
              </a:ext>
            </a:extLst>
          </p:cNvPr>
          <p:cNvSpPr>
            <a:spLocks noGrp="1"/>
          </p:cNvSpPr>
          <p:nvPr>
            <p:ph type="dt" sz="half" idx="10"/>
          </p:nvPr>
        </p:nvSpPr>
        <p:spPr/>
        <p:txBody>
          <a:bodyPr/>
          <a:lstStyle/>
          <a:p>
            <a:fld id="{12CE85C2-8405-4D3F-AA18-1EAF1504CC43}" type="datetimeFigureOut">
              <a:rPr lang="en-IN" smtClean="0"/>
              <a:t>05-07-2026</a:t>
            </a:fld>
            <a:endParaRPr lang="en-IN"/>
          </a:p>
        </p:txBody>
      </p:sp>
      <p:sp>
        <p:nvSpPr>
          <p:cNvPr id="8" name="Footer Placeholder 7">
            <a:extLst>
              <a:ext uri="{FF2B5EF4-FFF2-40B4-BE49-F238E27FC236}">
                <a16:creationId xmlns:a16="http://schemas.microsoft.com/office/drawing/2014/main" id="{694EA28A-70DF-9A0F-C1B1-2240B0D359E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3E70A1F-6560-654B-0881-5C7F56946915}"/>
              </a:ext>
            </a:extLst>
          </p:cNvPr>
          <p:cNvSpPr>
            <a:spLocks noGrp="1"/>
          </p:cNvSpPr>
          <p:nvPr>
            <p:ph type="sldNum" sz="quarter" idx="12"/>
          </p:nvPr>
        </p:nvSpPr>
        <p:spPr/>
        <p:txBody>
          <a:bodyPr/>
          <a:lstStyle/>
          <a:p>
            <a:fld id="{B19831FF-6DA0-4C8D-ADF8-E3176743E9FC}" type="slidenum">
              <a:rPr lang="en-IN" smtClean="0"/>
              <a:t>‹#›</a:t>
            </a:fld>
            <a:endParaRPr lang="en-IN"/>
          </a:p>
        </p:txBody>
      </p:sp>
    </p:spTree>
    <p:extLst>
      <p:ext uri="{BB962C8B-B14F-4D97-AF65-F5344CB8AC3E}">
        <p14:creationId xmlns:p14="http://schemas.microsoft.com/office/powerpoint/2010/main" val="3713341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45D98-3899-6449-6973-BD526DBFF19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2A1FF0E-64A0-682B-7B27-FBFF7DBBD951}"/>
              </a:ext>
            </a:extLst>
          </p:cNvPr>
          <p:cNvSpPr>
            <a:spLocks noGrp="1"/>
          </p:cNvSpPr>
          <p:nvPr>
            <p:ph type="dt" sz="half" idx="10"/>
          </p:nvPr>
        </p:nvSpPr>
        <p:spPr/>
        <p:txBody>
          <a:bodyPr/>
          <a:lstStyle/>
          <a:p>
            <a:fld id="{12CE85C2-8405-4D3F-AA18-1EAF1504CC43}" type="datetimeFigureOut">
              <a:rPr lang="en-IN" smtClean="0"/>
              <a:t>05-07-2026</a:t>
            </a:fld>
            <a:endParaRPr lang="en-IN"/>
          </a:p>
        </p:txBody>
      </p:sp>
      <p:sp>
        <p:nvSpPr>
          <p:cNvPr id="4" name="Footer Placeholder 3">
            <a:extLst>
              <a:ext uri="{FF2B5EF4-FFF2-40B4-BE49-F238E27FC236}">
                <a16:creationId xmlns:a16="http://schemas.microsoft.com/office/drawing/2014/main" id="{A525E5C4-4C2A-32C7-743D-8803034B16C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D173989-DC88-BEA4-CABD-441EC446785E}"/>
              </a:ext>
            </a:extLst>
          </p:cNvPr>
          <p:cNvSpPr>
            <a:spLocks noGrp="1"/>
          </p:cNvSpPr>
          <p:nvPr>
            <p:ph type="sldNum" sz="quarter" idx="12"/>
          </p:nvPr>
        </p:nvSpPr>
        <p:spPr/>
        <p:txBody>
          <a:bodyPr/>
          <a:lstStyle/>
          <a:p>
            <a:fld id="{B19831FF-6DA0-4C8D-ADF8-E3176743E9FC}" type="slidenum">
              <a:rPr lang="en-IN" smtClean="0"/>
              <a:t>‹#›</a:t>
            </a:fld>
            <a:endParaRPr lang="en-IN"/>
          </a:p>
        </p:txBody>
      </p:sp>
    </p:spTree>
    <p:extLst>
      <p:ext uri="{BB962C8B-B14F-4D97-AF65-F5344CB8AC3E}">
        <p14:creationId xmlns:p14="http://schemas.microsoft.com/office/powerpoint/2010/main" val="25606430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7978CF-4172-C216-3ABD-617A7DD9BCCE}"/>
              </a:ext>
            </a:extLst>
          </p:cNvPr>
          <p:cNvSpPr>
            <a:spLocks noGrp="1"/>
          </p:cNvSpPr>
          <p:nvPr>
            <p:ph type="dt" sz="half" idx="10"/>
          </p:nvPr>
        </p:nvSpPr>
        <p:spPr/>
        <p:txBody>
          <a:bodyPr/>
          <a:lstStyle/>
          <a:p>
            <a:fld id="{12CE85C2-8405-4D3F-AA18-1EAF1504CC43}" type="datetimeFigureOut">
              <a:rPr lang="en-IN" smtClean="0"/>
              <a:t>05-07-2026</a:t>
            </a:fld>
            <a:endParaRPr lang="en-IN"/>
          </a:p>
        </p:txBody>
      </p:sp>
      <p:sp>
        <p:nvSpPr>
          <p:cNvPr id="3" name="Footer Placeholder 2">
            <a:extLst>
              <a:ext uri="{FF2B5EF4-FFF2-40B4-BE49-F238E27FC236}">
                <a16:creationId xmlns:a16="http://schemas.microsoft.com/office/drawing/2014/main" id="{BE52B37A-5AF9-E980-FDE9-F7537CDD983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649FA3B-0C9A-370F-AB58-21999E45423B}"/>
              </a:ext>
            </a:extLst>
          </p:cNvPr>
          <p:cNvSpPr>
            <a:spLocks noGrp="1"/>
          </p:cNvSpPr>
          <p:nvPr>
            <p:ph type="sldNum" sz="quarter" idx="12"/>
          </p:nvPr>
        </p:nvSpPr>
        <p:spPr/>
        <p:txBody>
          <a:bodyPr/>
          <a:lstStyle/>
          <a:p>
            <a:fld id="{B19831FF-6DA0-4C8D-ADF8-E3176743E9FC}" type="slidenum">
              <a:rPr lang="en-IN" smtClean="0"/>
              <a:t>‹#›</a:t>
            </a:fld>
            <a:endParaRPr lang="en-IN"/>
          </a:p>
        </p:txBody>
      </p:sp>
    </p:spTree>
    <p:extLst>
      <p:ext uri="{BB962C8B-B14F-4D97-AF65-F5344CB8AC3E}">
        <p14:creationId xmlns:p14="http://schemas.microsoft.com/office/powerpoint/2010/main" val="615629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652B4-DEE4-D72E-0354-C0DEEDDEB9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1DC40DE-F1CB-79B7-FD80-6AC1E64ADE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A0B5706-5E20-049A-4970-C1A313E5D0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15AD94-6D8A-967B-2049-E2D656840FF2}"/>
              </a:ext>
            </a:extLst>
          </p:cNvPr>
          <p:cNvSpPr>
            <a:spLocks noGrp="1"/>
          </p:cNvSpPr>
          <p:nvPr>
            <p:ph type="dt" sz="half" idx="10"/>
          </p:nvPr>
        </p:nvSpPr>
        <p:spPr/>
        <p:txBody>
          <a:bodyPr/>
          <a:lstStyle/>
          <a:p>
            <a:fld id="{12CE85C2-8405-4D3F-AA18-1EAF1504CC43}" type="datetimeFigureOut">
              <a:rPr lang="en-IN" smtClean="0"/>
              <a:t>05-07-2026</a:t>
            </a:fld>
            <a:endParaRPr lang="en-IN"/>
          </a:p>
        </p:txBody>
      </p:sp>
      <p:sp>
        <p:nvSpPr>
          <p:cNvPr id="6" name="Footer Placeholder 5">
            <a:extLst>
              <a:ext uri="{FF2B5EF4-FFF2-40B4-BE49-F238E27FC236}">
                <a16:creationId xmlns:a16="http://schemas.microsoft.com/office/drawing/2014/main" id="{5196865D-711A-66EF-E01F-C63AA00569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4C9B5D5-0259-FCDC-28BC-83668FA574BA}"/>
              </a:ext>
            </a:extLst>
          </p:cNvPr>
          <p:cNvSpPr>
            <a:spLocks noGrp="1"/>
          </p:cNvSpPr>
          <p:nvPr>
            <p:ph type="sldNum" sz="quarter" idx="12"/>
          </p:nvPr>
        </p:nvSpPr>
        <p:spPr/>
        <p:txBody>
          <a:bodyPr/>
          <a:lstStyle/>
          <a:p>
            <a:fld id="{B19831FF-6DA0-4C8D-ADF8-E3176743E9FC}" type="slidenum">
              <a:rPr lang="en-IN" smtClean="0"/>
              <a:t>‹#›</a:t>
            </a:fld>
            <a:endParaRPr lang="en-IN"/>
          </a:p>
        </p:txBody>
      </p:sp>
    </p:spTree>
    <p:extLst>
      <p:ext uri="{BB962C8B-B14F-4D97-AF65-F5344CB8AC3E}">
        <p14:creationId xmlns:p14="http://schemas.microsoft.com/office/powerpoint/2010/main" val="41827388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4615D-CE07-8248-E05A-17A700B383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8AB0C14-58BE-2FE8-3D8D-44D9CB7FB8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48FEE33-C67C-BAC4-1633-65FF19D170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090D93-EE76-D7DD-FB9B-C47F7DFDC925}"/>
              </a:ext>
            </a:extLst>
          </p:cNvPr>
          <p:cNvSpPr>
            <a:spLocks noGrp="1"/>
          </p:cNvSpPr>
          <p:nvPr>
            <p:ph type="dt" sz="half" idx="10"/>
          </p:nvPr>
        </p:nvSpPr>
        <p:spPr/>
        <p:txBody>
          <a:bodyPr/>
          <a:lstStyle/>
          <a:p>
            <a:fld id="{12CE85C2-8405-4D3F-AA18-1EAF1504CC43}" type="datetimeFigureOut">
              <a:rPr lang="en-IN" smtClean="0"/>
              <a:t>05-07-2026</a:t>
            </a:fld>
            <a:endParaRPr lang="en-IN"/>
          </a:p>
        </p:txBody>
      </p:sp>
      <p:sp>
        <p:nvSpPr>
          <p:cNvPr id="6" name="Footer Placeholder 5">
            <a:extLst>
              <a:ext uri="{FF2B5EF4-FFF2-40B4-BE49-F238E27FC236}">
                <a16:creationId xmlns:a16="http://schemas.microsoft.com/office/drawing/2014/main" id="{290E2AD4-143A-80A5-02EE-E2720C2AC91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39C6E34-7E24-EF50-E02A-D9C438EC01FC}"/>
              </a:ext>
            </a:extLst>
          </p:cNvPr>
          <p:cNvSpPr>
            <a:spLocks noGrp="1"/>
          </p:cNvSpPr>
          <p:nvPr>
            <p:ph type="sldNum" sz="quarter" idx="12"/>
          </p:nvPr>
        </p:nvSpPr>
        <p:spPr/>
        <p:txBody>
          <a:bodyPr/>
          <a:lstStyle/>
          <a:p>
            <a:fld id="{B19831FF-6DA0-4C8D-ADF8-E3176743E9FC}" type="slidenum">
              <a:rPr lang="en-IN" smtClean="0"/>
              <a:t>‹#›</a:t>
            </a:fld>
            <a:endParaRPr lang="en-IN"/>
          </a:p>
        </p:txBody>
      </p:sp>
    </p:spTree>
    <p:extLst>
      <p:ext uri="{BB962C8B-B14F-4D97-AF65-F5344CB8AC3E}">
        <p14:creationId xmlns:p14="http://schemas.microsoft.com/office/powerpoint/2010/main" val="2155679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D9503-46BE-EDDC-B18F-877A40AC6D3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32EDE3-E07E-F3E9-6AE6-19802BA7850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1A2AA2F-BE87-B31C-282A-892215EE20E8}"/>
              </a:ext>
            </a:extLst>
          </p:cNvPr>
          <p:cNvSpPr>
            <a:spLocks noGrp="1"/>
          </p:cNvSpPr>
          <p:nvPr>
            <p:ph type="dt" sz="half" idx="10"/>
          </p:nvPr>
        </p:nvSpPr>
        <p:spPr/>
        <p:txBody>
          <a:bodyPr/>
          <a:lstStyle/>
          <a:p>
            <a:fld id="{12CE85C2-8405-4D3F-AA18-1EAF1504CC43}" type="datetimeFigureOut">
              <a:rPr lang="en-IN" smtClean="0"/>
              <a:t>05-07-2026</a:t>
            </a:fld>
            <a:endParaRPr lang="en-IN"/>
          </a:p>
        </p:txBody>
      </p:sp>
      <p:sp>
        <p:nvSpPr>
          <p:cNvPr id="5" name="Footer Placeholder 4">
            <a:extLst>
              <a:ext uri="{FF2B5EF4-FFF2-40B4-BE49-F238E27FC236}">
                <a16:creationId xmlns:a16="http://schemas.microsoft.com/office/drawing/2014/main" id="{E66DED2C-E47C-F3F8-981A-9B4D088D40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EA6C18-FD59-82FC-351E-BAAC680B8069}"/>
              </a:ext>
            </a:extLst>
          </p:cNvPr>
          <p:cNvSpPr>
            <a:spLocks noGrp="1"/>
          </p:cNvSpPr>
          <p:nvPr>
            <p:ph type="sldNum" sz="quarter" idx="12"/>
          </p:nvPr>
        </p:nvSpPr>
        <p:spPr/>
        <p:txBody>
          <a:bodyPr/>
          <a:lstStyle/>
          <a:p>
            <a:fld id="{B19831FF-6DA0-4C8D-ADF8-E3176743E9FC}" type="slidenum">
              <a:rPr lang="en-IN" smtClean="0"/>
              <a:t>‹#›</a:t>
            </a:fld>
            <a:endParaRPr lang="en-IN"/>
          </a:p>
        </p:txBody>
      </p:sp>
    </p:spTree>
    <p:extLst>
      <p:ext uri="{BB962C8B-B14F-4D97-AF65-F5344CB8AC3E}">
        <p14:creationId xmlns:p14="http://schemas.microsoft.com/office/powerpoint/2010/main" val="3996312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22D8DB-75A2-02EF-738C-AAAB2438E2A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E21BAD-CE51-3E5C-EF5C-BCCDCE7975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7F53100-3854-2B2D-7981-C2566FF7D88D}"/>
              </a:ext>
            </a:extLst>
          </p:cNvPr>
          <p:cNvSpPr>
            <a:spLocks noGrp="1"/>
          </p:cNvSpPr>
          <p:nvPr>
            <p:ph type="dt" sz="half" idx="10"/>
          </p:nvPr>
        </p:nvSpPr>
        <p:spPr/>
        <p:txBody>
          <a:bodyPr/>
          <a:lstStyle/>
          <a:p>
            <a:fld id="{12CE85C2-8405-4D3F-AA18-1EAF1504CC43}" type="datetimeFigureOut">
              <a:rPr lang="en-IN" smtClean="0"/>
              <a:t>05-07-2026</a:t>
            </a:fld>
            <a:endParaRPr lang="en-IN"/>
          </a:p>
        </p:txBody>
      </p:sp>
      <p:sp>
        <p:nvSpPr>
          <p:cNvPr id="5" name="Footer Placeholder 4">
            <a:extLst>
              <a:ext uri="{FF2B5EF4-FFF2-40B4-BE49-F238E27FC236}">
                <a16:creationId xmlns:a16="http://schemas.microsoft.com/office/drawing/2014/main" id="{726A61AC-1F0D-30B4-09B6-03BA378984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590119-7C20-FC3C-1519-D3A7D42B64C7}"/>
              </a:ext>
            </a:extLst>
          </p:cNvPr>
          <p:cNvSpPr>
            <a:spLocks noGrp="1"/>
          </p:cNvSpPr>
          <p:nvPr>
            <p:ph type="sldNum" sz="quarter" idx="12"/>
          </p:nvPr>
        </p:nvSpPr>
        <p:spPr/>
        <p:txBody>
          <a:bodyPr/>
          <a:lstStyle/>
          <a:p>
            <a:fld id="{B19831FF-6DA0-4C8D-ADF8-E3176743E9FC}" type="slidenum">
              <a:rPr lang="en-IN" smtClean="0"/>
              <a:t>‹#›</a:t>
            </a:fld>
            <a:endParaRPr lang="en-IN"/>
          </a:p>
        </p:txBody>
      </p:sp>
    </p:spTree>
    <p:extLst>
      <p:ext uri="{BB962C8B-B14F-4D97-AF65-F5344CB8AC3E}">
        <p14:creationId xmlns:p14="http://schemas.microsoft.com/office/powerpoint/2010/main" val="36636876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A7495F-443A-1971-A71C-A2E2AA91C9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E4B78C6-6E19-6B5C-9253-63EA398C74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A57EF2-0A9D-04AA-A46D-E1B79116B06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2CE85C2-8405-4D3F-AA18-1EAF1504CC43}" type="datetimeFigureOut">
              <a:rPr lang="en-IN" smtClean="0"/>
              <a:t>05-07-2026</a:t>
            </a:fld>
            <a:endParaRPr lang="en-IN"/>
          </a:p>
        </p:txBody>
      </p:sp>
      <p:sp>
        <p:nvSpPr>
          <p:cNvPr id="5" name="Footer Placeholder 4">
            <a:extLst>
              <a:ext uri="{FF2B5EF4-FFF2-40B4-BE49-F238E27FC236}">
                <a16:creationId xmlns:a16="http://schemas.microsoft.com/office/drawing/2014/main" id="{4C2B601E-3626-1F55-684A-B851CA9F50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09AA7EE-465F-2450-1E38-C59A6DF647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19831FF-6DA0-4C8D-ADF8-E3176743E9FC}" type="slidenum">
              <a:rPr lang="en-IN" smtClean="0"/>
              <a:t>‹#›</a:t>
            </a:fld>
            <a:endParaRPr lang="en-IN"/>
          </a:p>
        </p:txBody>
      </p:sp>
    </p:spTree>
    <p:extLst>
      <p:ext uri="{BB962C8B-B14F-4D97-AF65-F5344CB8AC3E}">
        <p14:creationId xmlns:p14="http://schemas.microsoft.com/office/powerpoint/2010/main" val="115329868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5" Type="http://schemas.microsoft.com/office/2007/relationships/hdphoto" Target="../media/hdphoto1.wdp"/><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B71FB83-D6E1-BCA1-744A-8D4A56882FDF}"/>
              </a:ext>
            </a:extLst>
          </p:cNvPr>
          <p:cNvSpPr/>
          <p:nvPr/>
        </p:nvSpPr>
        <p:spPr>
          <a:xfrm>
            <a:off x="625931" y="468287"/>
            <a:ext cx="10499270" cy="13746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rPr>
              <a:t>AMAZON SALES ANALYSIS</a:t>
            </a:r>
            <a:endParaRPr lang="en-IN" sz="3600" b="1" dirty="0">
              <a:solidFill>
                <a:schemeClr val="bg1"/>
              </a:solidFill>
            </a:endParaRPr>
          </a:p>
        </p:txBody>
      </p:sp>
      <p:sp>
        <p:nvSpPr>
          <p:cNvPr id="10" name="TextBox 9">
            <a:extLst>
              <a:ext uri="{FF2B5EF4-FFF2-40B4-BE49-F238E27FC236}">
                <a16:creationId xmlns:a16="http://schemas.microsoft.com/office/drawing/2014/main" id="{65444729-436C-21CD-7750-DBE42629A2D4}"/>
              </a:ext>
            </a:extLst>
          </p:cNvPr>
          <p:cNvSpPr txBox="1"/>
          <p:nvPr/>
        </p:nvSpPr>
        <p:spPr>
          <a:xfrm>
            <a:off x="625931" y="1412009"/>
            <a:ext cx="10499270" cy="461665"/>
          </a:xfrm>
          <a:prstGeom prst="rect">
            <a:avLst/>
          </a:prstGeom>
          <a:solidFill>
            <a:schemeClr val="accent2"/>
          </a:solidFill>
        </p:spPr>
        <p:txBody>
          <a:bodyPr wrap="square" rtlCol="0">
            <a:spAutoFit/>
          </a:bodyPr>
          <a:lstStyle/>
          <a:p>
            <a:pPr algn="ctr"/>
            <a:r>
              <a:rPr lang="en-IN" sz="2400" dirty="0">
                <a:solidFill>
                  <a:schemeClr val="bg1"/>
                </a:solidFill>
              </a:rPr>
              <a:t>Task 4 – Data Storytelling &amp; Statistical Validation </a:t>
            </a:r>
          </a:p>
        </p:txBody>
      </p:sp>
      <p:sp>
        <p:nvSpPr>
          <p:cNvPr id="11" name="TextBox 10">
            <a:extLst>
              <a:ext uri="{FF2B5EF4-FFF2-40B4-BE49-F238E27FC236}">
                <a16:creationId xmlns:a16="http://schemas.microsoft.com/office/drawing/2014/main" id="{AA99BD8A-61A1-35C2-3A0A-DD28E9BBF2BA}"/>
              </a:ext>
            </a:extLst>
          </p:cNvPr>
          <p:cNvSpPr txBox="1"/>
          <p:nvPr/>
        </p:nvSpPr>
        <p:spPr>
          <a:xfrm rot="10800000" flipV="1">
            <a:off x="5096926" y="3670773"/>
            <a:ext cx="1998150" cy="400110"/>
          </a:xfrm>
          <a:prstGeom prst="rect">
            <a:avLst/>
          </a:prstGeom>
          <a:noFill/>
        </p:spPr>
        <p:txBody>
          <a:bodyPr wrap="square" rtlCol="0">
            <a:spAutoFit/>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Presented By </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F5032E0C-BC5E-CBCC-E552-020C75AC5999}"/>
              </a:ext>
            </a:extLst>
          </p:cNvPr>
          <p:cNvSpPr txBox="1"/>
          <p:nvPr/>
        </p:nvSpPr>
        <p:spPr>
          <a:xfrm>
            <a:off x="5030124" y="4343000"/>
            <a:ext cx="2131753" cy="461665"/>
          </a:xfrm>
          <a:prstGeom prst="rect">
            <a:avLst/>
          </a:prstGeom>
          <a:noFill/>
        </p:spPr>
        <p:txBody>
          <a:bodyPr wrap="square" rtlCol="0">
            <a:spAutoFit/>
          </a:bodyPr>
          <a:lstStyle/>
          <a:p>
            <a:pPr algn="ctr"/>
            <a:r>
              <a:rPr lang="en-US" sz="2400" b="1" dirty="0">
                <a:latin typeface="Calibri" panose="020F0502020204030204" pitchFamily="34" charset="0"/>
                <a:ea typeface="Calibri" panose="020F0502020204030204" pitchFamily="34" charset="0"/>
                <a:cs typeface="Calibri" panose="020F0502020204030204" pitchFamily="34" charset="0"/>
              </a:rPr>
              <a:t>G Bhanupriya</a:t>
            </a:r>
            <a:endParaRPr lang="en-IN" sz="2400" b="1" dirty="0">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415182DA-FB0D-4555-FC0E-BAE27F6C3B50}"/>
              </a:ext>
            </a:extLst>
          </p:cNvPr>
          <p:cNvSpPr txBox="1"/>
          <p:nvPr/>
        </p:nvSpPr>
        <p:spPr>
          <a:xfrm>
            <a:off x="3886200" y="4804665"/>
            <a:ext cx="4419600" cy="400110"/>
          </a:xfrm>
          <a:prstGeom prst="rect">
            <a:avLst/>
          </a:prstGeom>
          <a:noFill/>
        </p:spPr>
        <p:txBody>
          <a:bodyPr wrap="square" rtlCol="0">
            <a:spAutoFit/>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Data Analytics Internship</a:t>
            </a:r>
          </a:p>
        </p:txBody>
      </p:sp>
      <p:sp>
        <p:nvSpPr>
          <p:cNvPr id="14" name="TextBox 13">
            <a:extLst>
              <a:ext uri="{FF2B5EF4-FFF2-40B4-BE49-F238E27FC236}">
                <a16:creationId xmlns:a16="http://schemas.microsoft.com/office/drawing/2014/main" id="{98BE1BFA-1696-F395-4C37-D6A9AAA7D25C}"/>
              </a:ext>
            </a:extLst>
          </p:cNvPr>
          <p:cNvSpPr txBox="1"/>
          <p:nvPr/>
        </p:nvSpPr>
        <p:spPr>
          <a:xfrm>
            <a:off x="3957713" y="5256567"/>
            <a:ext cx="4276575" cy="461665"/>
          </a:xfrm>
          <a:prstGeom prst="rect">
            <a:avLst/>
          </a:prstGeom>
          <a:noFill/>
        </p:spPr>
        <p:txBody>
          <a:bodyPr wrap="square" rtlCol="0">
            <a:spAutoFit/>
          </a:bodyPr>
          <a:lstStyle/>
          <a:p>
            <a:pPr algn="ctr"/>
            <a:r>
              <a:rPr lang="en-US" sz="2400" dirty="0">
                <a:latin typeface="Calibri" panose="020F0502020204030204" pitchFamily="34" charset="0"/>
                <a:ea typeface="Calibri" panose="020F0502020204030204" pitchFamily="34" charset="0"/>
                <a:cs typeface="Calibri" panose="020F0502020204030204" pitchFamily="34" charset="0"/>
              </a:rPr>
              <a:t>ApexPlanet Software Pvt. Ltd.</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pic>
        <p:nvPicPr>
          <p:cNvPr id="16" name="Picture 15">
            <a:extLst>
              <a:ext uri="{FF2B5EF4-FFF2-40B4-BE49-F238E27FC236}">
                <a16:creationId xmlns:a16="http://schemas.microsoft.com/office/drawing/2014/main" id="{2A2AED2E-3CF7-79E0-C7A2-69710E73E4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31480" y="5225792"/>
            <a:ext cx="3093721" cy="1452174"/>
          </a:xfrm>
          <a:prstGeom prst="rect">
            <a:avLst/>
          </a:prstGeom>
        </p:spPr>
      </p:pic>
      <p:pic>
        <p:nvPicPr>
          <p:cNvPr id="20" name="Graphic 19" descr="Bar graph with upward trend with solid fill">
            <a:extLst>
              <a:ext uri="{FF2B5EF4-FFF2-40B4-BE49-F238E27FC236}">
                <a16:creationId xmlns:a16="http://schemas.microsoft.com/office/drawing/2014/main" id="{CC24E060-B36E-7449-CD94-4075174B21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65235" y="2021087"/>
            <a:ext cx="2529841" cy="1310388"/>
          </a:xfrm>
          <a:prstGeom prst="rect">
            <a:avLst/>
          </a:prstGeom>
        </p:spPr>
      </p:pic>
      <p:sp>
        <p:nvSpPr>
          <p:cNvPr id="21" name="TextBox 20">
            <a:extLst>
              <a:ext uri="{FF2B5EF4-FFF2-40B4-BE49-F238E27FC236}">
                <a16:creationId xmlns:a16="http://schemas.microsoft.com/office/drawing/2014/main" id="{7CA70924-7465-14ED-CFDE-318C5E76248E}"/>
              </a:ext>
            </a:extLst>
          </p:cNvPr>
          <p:cNvSpPr txBox="1"/>
          <p:nvPr/>
        </p:nvSpPr>
        <p:spPr>
          <a:xfrm>
            <a:off x="4831080" y="5862356"/>
            <a:ext cx="2529840" cy="400110"/>
          </a:xfrm>
          <a:prstGeom prst="rect">
            <a:avLst/>
          </a:prstGeom>
          <a:noFill/>
        </p:spPr>
        <p:txBody>
          <a:bodyPr wrap="square" rtlCol="0">
            <a:spAutoFit/>
          </a:bodyPr>
          <a:lstStyle/>
          <a:p>
            <a:pPr algn="ctr"/>
            <a:r>
              <a:rPr lang="en-US" sz="2000" b="1" dirty="0">
                <a:solidFill>
                  <a:schemeClr val="accent1"/>
                </a:solidFill>
                <a:latin typeface="Calibri" panose="020F0502020204030204" pitchFamily="34" charset="0"/>
                <a:ea typeface="Calibri" panose="020F0502020204030204" pitchFamily="34" charset="0"/>
                <a:cs typeface="Calibri" panose="020F0502020204030204" pitchFamily="34" charset="0"/>
              </a:rPr>
              <a:t>July 2026</a:t>
            </a:r>
            <a:endParaRPr lang="en-IN" sz="2000"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07856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C12FB57-6FC5-CE6A-57A9-2B182E6B8F49}"/>
              </a:ext>
            </a:extLst>
          </p:cNvPr>
          <p:cNvSpPr txBox="1"/>
          <p:nvPr/>
        </p:nvSpPr>
        <p:spPr>
          <a:xfrm>
            <a:off x="624840" y="2166092"/>
            <a:ext cx="6881787" cy="1754326"/>
          </a:xfrm>
          <a:prstGeom prst="rect">
            <a:avLst/>
          </a:prstGeom>
          <a:noFill/>
        </p:spPr>
        <p:txBody>
          <a:bodyPr wrap="square" rtlCol="0">
            <a:spAutoFit/>
          </a:bodyPr>
          <a:lstStyle/>
          <a:p>
            <a:r>
              <a:rPr lang="en-IN" dirty="0"/>
              <a:t>🎯 Project Objective </a:t>
            </a:r>
          </a:p>
          <a:p>
            <a:r>
              <a:rPr lang="en-IN" dirty="0"/>
              <a:t>Analyze the Amazon Sales dataset to identify revenue trends, customer purchasing behavior, product performance, and payment preferences. The goal is to transform raw sales data into actionable business insights through data analysis, visualization, and storytelling.</a:t>
            </a:r>
          </a:p>
        </p:txBody>
      </p:sp>
      <p:sp>
        <p:nvSpPr>
          <p:cNvPr id="10" name="TextBox 9">
            <a:extLst>
              <a:ext uri="{FF2B5EF4-FFF2-40B4-BE49-F238E27FC236}">
                <a16:creationId xmlns:a16="http://schemas.microsoft.com/office/drawing/2014/main" id="{98EC74AF-13D7-8731-00BA-200AC4E0FD82}"/>
              </a:ext>
            </a:extLst>
          </p:cNvPr>
          <p:cNvSpPr txBox="1"/>
          <p:nvPr/>
        </p:nvSpPr>
        <p:spPr>
          <a:xfrm>
            <a:off x="484333" y="3863396"/>
            <a:ext cx="2700827" cy="369332"/>
          </a:xfrm>
          <a:prstGeom prst="rect">
            <a:avLst/>
          </a:prstGeom>
          <a:noFill/>
        </p:spPr>
        <p:txBody>
          <a:bodyPr wrap="square" rtlCol="0">
            <a:spAutoFit/>
          </a:bodyPr>
          <a:lstStyle/>
          <a:p>
            <a:r>
              <a:rPr lang="en-IN" dirty="0"/>
              <a:t>📂 Dataset Summary</a:t>
            </a:r>
          </a:p>
        </p:txBody>
      </p:sp>
      <p:sp>
        <p:nvSpPr>
          <p:cNvPr id="12" name="TextBox 11">
            <a:extLst>
              <a:ext uri="{FF2B5EF4-FFF2-40B4-BE49-F238E27FC236}">
                <a16:creationId xmlns:a16="http://schemas.microsoft.com/office/drawing/2014/main" id="{6F0FA68C-0433-37FD-6AFE-1AF5A9589D91}"/>
              </a:ext>
            </a:extLst>
          </p:cNvPr>
          <p:cNvSpPr txBox="1"/>
          <p:nvPr/>
        </p:nvSpPr>
        <p:spPr>
          <a:xfrm flipH="1">
            <a:off x="8260080" y="2255519"/>
            <a:ext cx="2558469" cy="369332"/>
          </a:xfrm>
          <a:prstGeom prst="rect">
            <a:avLst/>
          </a:prstGeom>
          <a:noFill/>
        </p:spPr>
        <p:txBody>
          <a:bodyPr wrap="square" rtlCol="0">
            <a:spAutoFit/>
          </a:bodyPr>
          <a:lstStyle/>
          <a:p>
            <a:r>
              <a:rPr lang="en-IN"/>
              <a:t>🛠 Tools Used</a:t>
            </a:r>
            <a:endParaRPr lang="en-IN" dirty="0"/>
          </a:p>
        </p:txBody>
      </p:sp>
      <p:sp>
        <p:nvSpPr>
          <p:cNvPr id="13" name="TextBox 12">
            <a:extLst>
              <a:ext uri="{FF2B5EF4-FFF2-40B4-BE49-F238E27FC236}">
                <a16:creationId xmlns:a16="http://schemas.microsoft.com/office/drawing/2014/main" id="{53EAE862-1FC9-EBC1-784E-407B9DD7B6FD}"/>
              </a:ext>
            </a:extLst>
          </p:cNvPr>
          <p:cNvSpPr txBox="1"/>
          <p:nvPr/>
        </p:nvSpPr>
        <p:spPr>
          <a:xfrm>
            <a:off x="8260080" y="2901849"/>
            <a:ext cx="2155536" cy="1477328"/>
          </a:xfrm>
          <a:prstGeom prst="rect">
            <a:avLst/>
          </a:prstGeom>
          <a:noFill/>
        </p:spPr>
        <p:txBody>
          <a:bodyPr wrap="square" rtlCol="0">
            <a:spAutoFit/>
          </a:bodyPr>
          <a:lstStyle/>
          <a:p>
            <a:r>
              <a:rPr lang="en-IN" dirty="0"/>
              <a:t>🐍 Python</a:t>
            </a:r>
          </a:p>
          <a:p>
            <a:r>
              <a:rPr lang="en-IN" dirty="0"/>
              <a:t>🐼 Pandas</a:t>
            </a:r>
          </a:p>
          <a:p>
            <a:r>
              <a:rPr lang="en-IN" dirty="0"/>
              <a:t> 🗄  SQL</a:t>
            </a:r>
          </a:p>
          <a:p>
            <a:r>
              <a:rPr lang="en-IN" dirty="0"/>
              <a:t>📊 Power BI</a:t>
            </a:r>
          </a:p>
          <a:p>
            <a:r>
              <a:rPr lang="en-IN" dirty="0"/>
              <a:t>📈 Matplotlib</a:t>
            </a:r>
          </a:p>
        </p:txBody>
      </p:sp>
      <p:sp>
        <p:nvSpPr>
          <p:cNvPr id="14" name="TextBox 13">
            <a:extLst>
              <a:ext uri="{FF2B5EF4-FFF2-40B4-BE49-F238E27FC236}">
                <a16:creationId xmlns:a16="http://schemas.microsoft.com/office/drawing/2014/main" id="{08739D37-DCB2-C978-453E-58D122EEAAD8}"/>
              </a:ext>
            </a:extLst>
          </p:cNvPr>
          <p:cNvSpPr txBox="1"/>
          <p:nvPr/>
        </p:nvSpPr>
        <p:spPr>
          <a:xfrm>
            <a:off x="8260080" y="4869130"/>
            <a:ext cx="2042160" cy="369332"/>
          </a:xfrm>
          <a:prstGeom prst="rect">
            <a:avLst/>
          </a:prstGeom>
          <a:noFill/>
        </p:spPr>
        <p:txBody>
          <a:bodyPr wrap="square" rtlCol="0">
            <a:spAutoFit/>
          </a:bodyPr>
          <a:lstStyle/>
          <a:p>
            <a:r>
              <a:rPr lang="en-IN" dirty="0"/>
              <a:t>🔄 Workflow</a:t>
            </a:r>
          </a:p>
        </p:txBody>
      </p:sp>
      <p:sp>
        <p:nvSpPr>
          <p:cNvPr id="15" name="TextBox 14">
            <a:extLst>
              <a:ext uri="{FF2B5EF4-FFF2-40B4-BE49-F238E27FC236}">
                <a16:creationId xmlns:a16="http://schemas.microsoft.com/office/drawing/2014/main" id="{CE7CD0B3-7A9A-3D08-95DD-79C5FE0367A7}"/>
              </a:ext>
            </a:extLst>
          </p:cNvPr>
          <p:cNvSpPr txBox="1"/>
          <p:nvPr/>
        </p:nvSpPr>
        <p:spPr>
          <a:xfrm>
            <a:off x="8260080" y="5515459"/>
            <a:ext cx="3657600" cy="646331"/>
          </a:xfrm>
          <a:prstGeom prst="rect">
            <a:avLst/>
          </a:prstGeom>
          <a:noFill/>
        </p:spPr>
        <p:txBody>
          <a:bodyPr wrap="square" rtlCol="0">
            <a:spAutoFit/>
          </a:bodyPr>
          <a:lstStyle/>
          <a:p>
            <a:r>
              <a:rPr lang="en-IN" dirty="0"/>
              <a:t>Data Collection → Data Cleaning → EDA→ Dashboard → Insights</a:t>
            </a:r>
          </a:p>
        </p:txBody>
      </p:sp>
      <p:sp>
        <p:nvSpPr>
          <p:cNvPr id="16" name="Rectangle 15">
            <a:extLst>
              <a:ext uri="{FF2B5EF4-FFF2-40B4-BE49-F238E27FC236}">
                <a16:creationId xmlns:a16="http://schemas.microsoft.com/office/drawing/2014/main" id="{A8C38797-7D7B-50B3-5B7D-9CFEC29863C3}"/>
              </a:ext>
            </a:extLst>
          </p:cNvPr>
          <p:cNvSpPr/>
          <p:nvPr/>
        </p:nvSpPr>
        <p:spPr>
          <a:xfrm>
            <a:off x="624840" y="199456"/>
            <a:ext cx="11079480" cy="17790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t>PROJECT OVERVIEW</a:t>
            </a:r>
            <a:endParaRPr lang="en-IN" sz="3600" b="1" dirty="0"/>
          </a:p>
        </p:txBody>
      </p:sp>
      <p:sp>
        <p:nvSpPr>
          <p:cNvPr id="19" name="Rectangle 18">
            <a:extLst>
              <a:ext uri="{FF2B5EF4-FFF2-40B4-BE49-F238E27FC236}">
                <a16:creationId xmlns:a16="http://schemas.microsoft.com/office/drawing/2014/main" id="{2FAFA576-0DE7-61B2-1D87-304AFCA4CC91}"/>
              </a:ext>
            </a:extLst>
          </p:cNvPr>
          <p:cNvSpPr/>
          <p:nvPr/>
        </p:nvSpPr>
        <p:spPr>
          <a:xfrm>
            <a:off x="624840" y="1483279"/>
            <a:ext cx="11079480" cy="495243"/>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r>
              <a:rPr lang="en-US" sz="3200" b="1" dirty="0"/>
              <a:t>Amazon Sales Dataset &amp; Business Objectives</a:t>
            </a:r>
            <a:endParaRPr lang="en-IN" sz="3200" b="1" dirty="0"/>
          </a:p>
        </p:txBody>
      </p:sp>
      <p:graphicFrame>
        <p:nvGraphicFramePr>
          <p:cNvPr id="20" name="Table 19">
            <a:extLst>
              <a:ext uri="{FF2B5EF4-FFF2-40B4-BE49-F238E27FC236}">
                <a16:creationId xmlns:a16="http://schemas.microsoft.com/office/drawing/2014/main" id="{70C358F4-B972-BF25-7E8C-672EB3F6B2B6}"/>
              </a:ext>
            </a:extLst>
          </p:cNvPr>
          <p:cNvGraphicFramePr>
            <a:graphicFrameLocks noGrp="1"/>
          </p:cNvGraphicFramePr>
          <p:nvPr>
            <p:extLst>
              <p:ext uri="{D42A27DB-BD31-4B8C-83A1-F6EECF244321}">
                <p14:modId xmlns:p14="http://schemas.microsoft.com/office/powerpoint/2010/main" val="3306055861"/>
              </p:ext>
            </p:extLst>
          </p:nvPr>
        </p:nvGraphicFramePr>
        <p:xfrm>
          <a:off x="624840" y="4267198"/>
          <a:ext cx="6522720" cy="2560320"/>
        </p:xfrm>
        <a:graphic>
          <a:graphicData uri="http://schemas.openxmlformats.org/drawingml/2006/table">
            <a:tbl>
              <a:tblPr firstRow="1" bandRow="1">
                <a:tableStyleId>{5C22544A-7EE6-4342-B048-85BDC9FD1C3A}</a:tableStyleId>
              </a:tblPr>
              <a:tblGrid>
                <a:gridCol w="4332511">
                  <a:extLst>
                    <a:ext uri="{9D8B030D-6E8A-4147-A177-3AD203B41FA5}">
                      <a16:colId xmlns:a16="http://schemas.microsoft.com/office/drawing/2014/main" val="233965975"/>
                    </a:ext>
                  </a:extLst>
                </a:gridCol>
                <a:gridCol w="2190209">
                  <a:extLst>
                    <a:ext uri="{9D8B030D-6E8A-4147-A177-3AD203B41FA5}">
                      <a16:colId xmlns:a16="http://schemas.microsoft.com/office/drawing/2014/main" val="3836869931"/>
                    </a:ext>
                  </a:extLst>
                </a:gridCol>
              </a:tblGrid>
              <a:tr h="348343">
                <a:tc>
                  <a:txBody>
                    <a:bodyPr/>
                    <a:lstStyle/>
                    <a:p>
                      <a:pPr algn="l"/>
                      <a:r>
                        <a:rPr lang="en-US" dirty="0"/>
                        <a:t>Attribute</a:t>
                      </a:r>
                      <a:endParaRPr lang="en-IN" dirty="0"/>
                    </a:p>
                  </a:txBody>
                  <a:tcPr/>
                </a:tc>
                <a:tc>
                  <a:txBody>
                    <a:bodyPr/>
                    <a:lstStyle/>
                    <a:p>
                      <a:pPr algn="l"/>
                      <a:r>
                        <a:rPr lang="en-US" dirty="0"/>
                        <a:t>Value</a:t>
                      </a:r>
                      <a:endParaRPr lang="en-IN" dirty="0"/>
                    </a:p>
                  </a:txBody>
                  <a:tcPr/>
                </a:tc>
                <a:extLst>
                  <a:ext uri="{0D108BD9-81ED-4DB2-BD59-A6C34878D82A}">
                    <a16:rowId xmlns:a16="http://schemas.microsoft.com/office/drawing/2014/main" val="3451961588"/>
                  </a:ext>
                </a:extLst>
              </a:tr>
              <a:tr h="348343">
                <a:tc>
                  <a:txBody>
                    <a:bodyPr/>
                    <a:lstStyle/>
                    <a:p>
                      <a:r>
                        <a:rPr lang="en-US" dirty="0"/>
                        <a:t>Dataset</a:t>
                      </a:r>
                      <a:endParaRPr lang="en-IN" dirty="0"/>
                    </a:p>
                  </a:txBody>
                  <a:tcPr/>
                </a:tc>
                <a:tc>
                  <a:txBody>
                    <a:bodyPr/>
                    <a:lstStyle/>
                    <a:p>
                      <a:r>
                        <a:rPr lang="en-US" dirty="0"/>
                        <a:t>Amazon Sales</a:t>
                      </a:r>
                      <a:endParaRPr lang="en-IN" dirty="0"/>
                    </a:p>
                  </a:txBody>
                  <a:tcPr/>
                </a:tc>
                <a:extLst>
                  <a:ext uri="{0D108BD9-81ED-4DB2-BD59-A6C34878D82A}">
                    <a16:rowId xmlns:a16="http://schemas.microsoft.com/office/drawing/2014/main" val="4063752661"/>
                  </a:ext>
                </a:extLst>
              </a:tr>
              <a:tr h="348343">
                <a:tc>
                  <a:txBody>
                    <a:bodyPr/>
                    <a:lstStyle/>
                    <a:p>
                      <a:r>
                        <a:rPr lang="en-US" dirty="0"/>
                        <a:t>Orders</a:t>
                      </a:r>
                      <a:endParaRPr lang="en-IN" dirty="0"/>
                    </a:p>
                  </a:txBody>
                  <a:tcPr/>
                </a:tc>
                <a:tc>
                  <a:txBody>
                    <a:bodyPr/>
                    <a:lstStyle/>
                    <a:p>
                      <a:r>
                        <a:rPr lang="en-US" dirty="0"/>
                        <a:t>250</a:t>
                      </a:r>
                      <a:endParaRPr lang="en-IN" dirty="0"/>
                    </a:p>
                  </a:txBody>
                  <a:tcPr/>
                </a:tc>
                <a:extLst>
                  <a:ext uri="{0D108BD9-81ED-4DB2-BD59-A6C34878D82A}">
                    <a16:rowId xmlns:a16="http://schemas.microsoft.com/office/drawing/2014/main" val="548418843"/>
                  </a:ext>
                </a:extLst>
              </a:tr>
              <a:tr h="348343">
                <a:tc>
                  <a:txBody>
                    <a:bodyPr/>
                    <a:lstStyle/>
                    <a:p>
                      <a:r>
                        <a:rPr lang="en-US" dirty="0"/>
                        <a:t>Revenue</a:t>
                      </a:r>
                      <a:endParaRPr lang="en-IN" dirty="0"/>
                    </a:p>
                  </a:txBody>
                  <a:tcPr/>
                </a:tc>
                <a:tc>
                  <a:txBody>
                    <a:bodyPr/>
                    <a:lstStyle/>
                    <a:p>
                      <a:r>
                        <a:rPr lang="en-US" dirty="0"/>
                        <a:t>$247,000</a:t>
                      </a:r>
                      <a:endParaRPr lang="en-IN" dirty="0"/>
                    </a:p>
                  </a:txBody>
                  <a:tcPr/>
                </a:tc>
                <a:extLst>
                  <a:ext uri="{0D108BD9-81ED-4DB2-BD59-A6C34878D82A}">
                    <a16:rowId xmlns:a16="http://schemas.microsoft.com/office/drawing/2014/main" val="867260816"/>
                  </a:ext>
                </a:extLst>
              </a:tr>
              <a:tr h="348343">
                <a:tc>
                  <a:txBody>
                    <a:bodyPr/>
                    <a:lstStyle/>
                    <a:p>
                      <a:r>
                        <a:rPr lang="en-US" dirty="0"/>
                        <a:t>Products</a:t>
                      </a:r>
                      <a:endParaRPr lang="en-IN" dirty="0"/>
                    </a:p>
                  </a:txBody>
                  <a:tcPr/>
                </a:tc>
                <a:tc>
                  <a:txBody>
                    <a:bodyPr/>
                    <a:lstStyle/>
                    <a:p>
                      <a:r>
                        <a:rPr lang="en-US" dirty="0"/>
                        <a:t>10</a:t>
                      </a:r>
                      <a:endParaRPr lang="en-IN" dirty="0"/>
                    </a:p>
                  </a:txBody>
                  <a:tcPr/>
                </a:tc>
                <a:extLst>
                  <a:ext uri="{0D108BD9-81ED-4DB2-BD59-A6C34878D82A}">
                    <a16:rowId xmlns:a16="http://schemas.microsoft.com/office/drawing/2014/main" val="2865642213"/>
                  </a:ext>
                </a:extLst>
              </a:tr>
              <a:tr h="348343">
                <a:tc>
                  <a:txBody>
                    <a:bodyPr/>
                    <a:lstStyle/>
                    <a:p>
                      <a:r>
                        <a:rPr lang="en-US" dirty="0"/>
                        <a:t>Payment Methods</a:t>
                      </a:r>
                      <a:endParaRPr lang="en-IN" dirty="0"/>
                    </a:p>
                  </a:txBody>
                  <a:tcPr/>
                </a:tc>
                <a:tc>
                  <a:txBody>
                    <a:bodyPr/>
                    <a:lstStyle/>
                    <a:p>
                      <a:r>
                        <a:rPr lang="en-US" dirty="0"/>
                        <a:t>5</a:t>
                      </a:r>
                      <a:endParaRPr lang="en-IN" dirty="0"/>
                    </a:p>
                  </a:txBody>
                  <a:tcPr/>
                </a:tc>
                <a:extLst>
                  <a:ext uri="{0D108BD9-81ED-4DB2-BD59-A6C34878D82A}">
                    <a16:rowId xmlns:a16="http://schemas.microsoft.com/office/drawing/2014/main" val="451028892"/>
                  </a:ext>
                </a:extLst>
              </a:tr>
              <a:tr h="348343">
                <a:tc>
                  <a:txBody>
                    <a:bodyPr/>
                    <a:lstStyle/>
                    <a:p>
                      <a:r>
                        <a:rPr lang="en-US" dirty="0"/>
                        <a:t>Analysis Period</a:t>
                      </a:r>
                      <a:endParaRPr lang="en-IN" dirty="0"/>
                    </a:p>
                  </a:txBody>
                  <a:tcPr/>
                </a:tc>
                <a:tc>
                  <a:txBody>
                    <a:bodyPr/>
                    <a:lstStyle/>
                    <a:p>
                      <a:r>
                        <a:rPr lang="en-US" dirty="0"/>
                        <a:t>Feb</a:t>
                      </a:r>
                      <a:r>
                        <a:rPr lang="en-IN" dirty="0"/>
                        <a:t>– Apr 2025</a:t>
                      </a:r>
                    </a:p>
                  </a:txBody>
                  <a:tcPr/>
                </a:tc>
                <a:extLst>
                  <a:ext uri="{0D108BD9-81ED-4DB2-BD59-A6C34878D82A}">
                    <a16:rowId xmlns:a16="http://schemas.microsoft.com/office/drawing/2014/main" val="2263982929"/>
                  </a:ext>
                </a:extLst>
              </a:tr>
            </a:tbl>
          </a:graphicData>
        </a:graphic>
      </p:graphicFrame>
    </p:spTree>
    <p:extLst>
      <p:ext uri="{BB962C8B-B14F-4D97-AF65-F5344CB8AC3E}">
        <p14:creationId xmlns:p14="http://schemas.microsoft.com/office/powerpoint/2010/main" val="3645936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11500C7-17E8-9CC6-B6AD-EF8CA3A99D96}"/>
              </a:ext>
            </a:extLst>
          </p:cNvPr>
          <p:cNvSpPr/>
          <p:nvPr/>
        </p:nvSpPr>
        <p:spPr>
          <a:xfrm>
            <a:off x="571500" y="259080"/>
            <a:ext cx="10848340" cy="11226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t>DASHBOARD OVERVIEW</a:t>
            </a:r>
            <a:endParaRPr lang="en-IN" sz="3600" b="1" dirty="0"/>
          </a:p>
        </p:txBody>
      </p:sp>
      <p:pic>
        <p:nvPicPr>
          <p:cNvPr id="8" name="Picture 7">
            <a:extLst>
              <a:ext uri="{FF2B5EF4-FFF2-40B4-BE49-F238E27FC236}">
                <a16:creationId xmlns:a16="http://schemas.microsoft.com/office/drawing/2014/main" id="{100CC7B9-BE04-62F2-9A68-592F58894E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2280" y="1544320"/>
            <a:ext cx="11049000" cy="4246880"/>
          </a:xfrm>
          <a:prstGeom prst="rect">
            <a:avLst/>
          </a:prstGeom>
        </p:spPr>
      </p:pic>
      <p:sp>
        <p:nvSpPr>
          <p:cNvPr id="14" name="TextBox 13">
            <a:extLst>
              <a:ext uri="{FF2B5EF4-FFF2-40B4-BE49-F238E27FC236}">
                <a16:creationId xmlns:a16="http://schemas.microsoft.com/office/drawing/2014/main" id="{996C5246-2B5B-D17B-8444-60275546DA6D}"/>
              </a:ext>
            </a:extLst>
          </p:cNvPr>
          <p:cNvSpPr txBox="1"/>
          <p:nvPr/>
        </p:nvSpPr>
        <p:spPr>
          <a:xfrm>
            <a:off x="626110" y="5952589"/>
            <a:ext cx="10939780" cy="646331"/>
          </a:xfrm>
          <a:prstGeom prst="rect">
            <a:avLst/>
          </a:prstGeom>
          <a:noFill/>
        </p:spPr>
        <p:txBody>
          <a:bodyPr wrap="square">
            <a:spAutoFit/>
          </a:bodyPr>
          <a:lstStyle/>
          <a:p>
            <a:r>
              <a:rPr lang="en-IN" dirty="0"/>
              <a:t>The interactive dashboard provides a comprehensive view of Amazon sales performance, revenue trends, product categories, payment methods, and business insights.</a:t>
            </a:r>
          </a:p>
        </p:txBody>
      </p:sp>
    </p:spTree>
    <p:extLst>
      <p:ext uri="{BB962C8B-B14F-4D97-AF65-F5344CB8AC3E}">
        <p14:creationId xmlns:p14="http://schemas.microsoft.com/office/powerpoint/2010/main" val="1371343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B1E8017-9358-AD02-566C-F1883090EFA3}"/>
              </a:ext>
            </a:extLst>
          </p:cNvPr>
          <p:cNvSpPr/>
          <p:nvPr/>
        </p:nvSpPr>
        <p:spPr>
          <a:xfrm>
            <a:off x="635000" y="90282"/>
            <a:ext cx="10576560" cy="13681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t>KPI ANALYSIS</a:t>
            </a:r>
            <a:endParaRPr lang="en-IN" sz="3600" b="1" dirty="0"/>
          </a:p>
        </p:txBody>
      </p:sp>
      <p:sp>
        <p:nvSpPr>
          <p:cNvPr id="3" name="Rectangle 2">
            <a:extLst>
              <a:ext uri="{FF2B5EF4-FFF2-40B4-BE49-F238E27FC236}">
                <a16:creationId xmlns:a16="http://schemas.microsoft.com/office/drawing/2014/main" id="{3DFFBD5F-AF38-9763-ECB3-B50E5C13EF5F}"/>
              </a:ext>
            </a:extLst>
          </p:cNvPr>
          <p:cNvSpPr/>
          <p:nvPr/>
        </p:nvSpPr>
        <p:spPr>
          <a:xfrm>
            <a:off x="635000" y="1030147"/>
            <a:ext cx="10576560" cy="428263"/>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r>
              <a:rPr lang="en-US" sz="3200" b="1" dirty="0"/>
              <a:t>Key Performance Indicators</a:t>
            </a:r>
            <a:endParaRPr lang="en-IN" sz="3200" b="1" dirty="0"/>
          </a:p>
        </p:txBody>
      </p:sp>
      <p:pic>
        <p:nvPicPr>
          <p:cNvPr id="7" name="Picture 6">
            <a:extLst>
              <a:ext uri="{FF2B5EF4-FFF2-40B4-BE49-F238E27FC236}">
                <a16:creationId xmlns:a16="http://schemas.microsoft.com/office/drawing/2014/main" id="{B14BC4C2-F189-30DA-3C2D-62D4FE41558F}"/>
              </a:ext>
            </a:extLst>
          </p:cNvPr>
          <p:cNvPicPr>
            <a:picLocks noChangeAspect="1"/>
          </p:cNvPicPr>
          <p:nvPr/>
        </p:nvPicPr>
        <p:blipFill>
          <a:blip r:embed="rId2">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717756" y="2005408"/>
            <a:ext cx="2360697" cy="1289547"/>
          </a:xfrm>
          <a:prstGeom prst="rect">
            <a:avLst/>
          </a:prstGeom>
        </p:spPr>
      </p:pic>
      <p:pic>
        <p:nvPicPr>
          <p:cNvPr id="9" name="Picture 8">
            <a:extLst>
              <a:ext uri="{FF2B5EF4-FFF2-40B4-BE49-F238E27FC236}">
                <a16:creationId xmlns:a16="http://schemas.microsoft.com/office/drawing/2014/main" id="{F80B9225-3227-BE25-BDC8-5BDB643FDA4B}"/>
              </a:ext>
            </a:extLst>
          </p:cNvPr>
          <p:cNvPicPr>
            <a:picLocks noChangeAspect="1"/>
          </p:cNvPicPr>
          <p:nvPr/>
        </p:nvPicPr>
        <p:blipFill>
          <a:blip r:embed="rId3">
            <a:duotone>
              <a:prstClr val="black"/>
              <a:schemeClr val="accent3">
                <a:tint val="45000"/>
                <a:satMod val="400000"/>
              </a:schemeClr>
            </a:duotone>
            <a:extLst>
              <a:ext uri="{28A0092B-C50C-407E-A947-70E740481C1C}">
                <a14:useLocalDpi xmlns:a14="http://schemas.microsoft.com/office/drawing/2010/main" val="0"/>
              </a:ext>
            </a:extLst>
          </a:blip>
          <a:stretch>
            <a:fillRect/>
          </a:stretch>
        </p:blipFill>
        <p:spPr>
          <a:xfrm>
            <a:off x="4186181" y="2005409"/>
            <a:ext cx="2519420" cy="1289546"/>
          </a:xfrm>
          <a:prstGeom prst="rect">
            <a:avLst/>
          </a:prstGeom>
        </p:spPr>
      </p:pic>
      <p:pic>
        <p:nvPicPr>
          <p:cNvPr id="11" name="Picture 10">
            <a:extLst>
              <a:ext uri="{FF2B5EF4-FFF2-40B4-BE49-F238E27FC236}">
                <a16:creationId xmlns:a16="http://schemas.microsoft.com/office/drawing/2014/main" id="{99EBEA7E-3593-633A-2758-D8FEEC9A9A21}"/>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11200"/>
                    </a14:imgEffect>
                  </a14:imgLayer>
                </a14:imgProps>
              </a:ext>
              <a:ext uri="{28A0092B-C50C-407E-A947-70E740481C1C}">
                <a14:useLocalDpi xmlns:a14="http://schemas.microsoft.com/office/drawing/2010/main" val="0"/>
              </a:ext>
            </a:extLst>
          </a:blip>
          <a:stretch>
            <a:fillRect/>
          </a:stretch>
        </p:blipFill>
        <p:spPr>
          <a:xfrm>
            <a:off x="717756" y="4306163"/>
            <a:ext cx="2360698" cy="1432834"/>
          </a:xfrm>
          <a:prstGeom prst="rect">
            <a:avLst/>
          </a:prstGeom>
        </p:spPr>
      </p:pic>
      <p:pic>
        <p:nvPicPr>
          <p:cNvPr id="13" name="Picture 12">
            <a:extLst>
              <a:ext uri="{FF2B5EF4-FFF2-40B4-BE49-F238E27FC236}">
                <a16:creationId xmlns:a16="http://schemas.microsoft.com/office/drawing/2014/main" id="{4479E2EB-1491-40DD-D368-078B22376E03}"/>
              </a:ext>
            </a:extLst>
          </p:cNvPr>
          <p:cNvPicPr>
            <a:picLocks noChangeAspect="1"/>
          </p:cNvPicPr>
          <p:nvPr/>
        </p:nvPicPr>
        <p:blipFill>
          <a:blip r:embed="rId6">
            <a:duotone>
              <a:prstClr val="black"/>
              <a:schemeClr val="accent5">
                <a:tint val="45000"/>
                <a:satMod val="400000"/>
              </a:schemeClr>
            </a:duotone>
            <a:extLst>
              <a:ext uri="{28A0092B-C50C-407E-A947-70E740481C1C}">
                <a14:useLocalDpi xmlns:a14="http://schemas.microsoft.com/office/drawing/2010/main" val="0"/>
              </a:ext>
            </a:extLst>
          </a:blip>
          <a:stretch>
            <a:fillRect/>
          </a:stretch>
        </p:blipFill>
        <p:spPr>
          <a:xfrm>
            <a:off x="4186181" y="4306163"/>
            <a:ext cx="2519420" cy="1432834"/>
          </a:xfrm>
          <a:prstGeom prst="rect">
            <a:avLst/>
          </a:prstGeom>
        </p:spPr>
      </p:pic>
      <p:sp>
        <p:nvSpPr>
          <p:cNvPr id="16" name="TextBox 15">
            <a:extLst>
              <a:ext uri="{FF2B5EF4-FFF2-40B4-BE49-F238E27FC236}">
                <a16:creationId xmlns:a16="http://schemas.microsoft.com/office/drawing/2014/main" id="{C3049E28-C7F7-2F2B-F8AE-7BF4C95CBE92}"/>
              </a:ext>
            </a:extLst>
          </p:cNvPr>
          <p:cNvSpPr txBox="1"/>
          <p:nvPr/>
        </p:nvSpPr>
        <p:spPr>
          <a:xfrm>
            <a:off x="7403690" y="2005408"/>
            <a:ext cx="3800605" cy="2862322"/>
          </a:xfrm>
          <a:prstGeom prst="rect">
            <a:avLst/>
          </a:prstGeom>
          <a:noFill/>
        </p:spPr>
        <p:txBody>
          <a:bodyPr wrap="square">
            <a:spAutoFit/>
          </a:bodyPr>
          <a:lstStyle/>
          <a:p>
            <a:pPr>
              <a:buNone/>
            </a:pPr>
            <a:r>
              <a:rPr lang="en-IN" b="1" dirty="0"/>
              <a:t>Key Insights</a:t>
            </a:r>
          </a:p>
          <a:p>
            <a:pPr>
              <a:buFont typeface="Arial" panose="020B0604020202020204" pitchFamily="34" charset="0"/>
              <a:buChar char="•"/>
            </a:pPr>
            <a:r>
              <a:rPr lang="en-IN" dirty="0"/>
              <a:t>Electronics generated the highest revenue.</a:t>
            </a:r>
          </a:p>
          <a:p>
            <a:pPr>
              <a:buFont typeface="Arial" panose="020B0604020202020204" pitchFamily="34" charset="0"/>
              <a:buChar char="•"/>
            </a:pPr>
            <a:r>
              <a:rPr lang="en-IN" dirty="0"/>
              <a:t>Refrigerator was the best-selling product.</a:t>
            </a:r>
          </a:p>
          <a:p>
            <a:pPr>
              <a:buFont typeface="Arial" panose="020B0604020202020204" pitchFamily="34" charset="0"/>
              <a:buChar char="•"/>
            </a:pPr>
            <a:r>
              <a:rPr lang="en-IN" dirty="0"/>
              <a:t>PayPal was the preferred payment method.</a:t>
            </a:r>
          </a:p>
          <a:p>
            <a:pPr>
              <a:buFont typeface="Arial" panose="020B0604020202020204" pitchFamily="34" charset="0"/>
              <a:buChar char="•"/>
            </a:pPr>
            <a:r>
              <a:rPr lang="en-IN" dirty="0"/>
              <a:t>Miami recorded the highest sales.</a:t>
            </a:r>
          </a:p>
          <a:p>
            <a:pPr>
              <a:buFont typeface="Arial" panose="020B0604020202020204" pitchFamily="34" charset="0"/>
              <a:buChar char="•"/>
            </a:pPr>
            <a:r>
              <a:rPr lang="en-IN" dirty="0"/>
              <a:t>February and March achieved peak revenue</a:t>
            </a:r>
          </a:p>
        </p:txBody>
      </p:sp>
    </p:spTree>
    <p:extLst>
      <p:ext uri="{BB962C8B-B14F-4D97-AF65-F5344CB8AC3E}">
        <p14:creationId xmlns:p14="http://schemas.microsoft.com/office/powerpoint/2010/main" val="6127262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C74D497-FB73-6430-818D-90B02B3E1953}"/>
              </a:ext>
            </a:extLst>
          </p:cNvPr>
          <p:cNvSpPr/>
          <p:nvPr/>
        </p:nvSpPr>
        <p:spPr>
          <a:xfrm>
            <a:off x="497305" y="383458"/>
            <a:ext cx="11415252" cy="14293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t>DATA STORY</a:t>
            </a:r>
            <a:endParaRPr lang="en-IN" sz="3600" b="1" dirty="0"/>
          </a:p>
        </p:txBody>
      </p:sp>
      <p:sp>
        <p:nvSpPr>
          <p:cNvPr id="3" name="Rectangle 2">
            <a:extLst>
              <a:ext uri="{FF2B5EF4-FFF2-40B4-BE49-F238E27FC236}">
                <a16:creationId xmlns:a16="http://schemas.microsoft.com/office/drawing/2014/main" id="{6A1C80E2-9689-5B84-D448-67E8F916E564}"/>
              </a:ext>
            </a:extLst>
          </p:cNvPr>
          <p:cNvSpPr/>
          <p:nvPr/>
        </p:nvSpPr>
        <p:spPr>
          <a:xfrm>
            <a:off x="497305" y="1363578"/>
            <a:ext cx="11415252" cy="449180"/>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r>
              <a:rPr lang="en-US" sz="3200" b="1" dirty="0"/>
              <a:t>Business Insights from Amazon Sales</a:t>
            </a:r>
            <a:endParaRPr lang="en-IN" sz="3200" b="1" dirty="0"/>
          </a:p>
        </p:txBody>
      </p:sp>
      <p:sp>
        <p:nvSpPr>
          <p:cNvPr id="4" name="TextBox 3">
            <a:extLst>
              <a:ext uri="{FF2B5EF4-FFF2-40B4-BE49-F238E27FC236}">
                <a16:creationId xmlns:a16="http://schemas.microsoft.com/office/drawing/2014/main" id="{8E86BE27-3FD5-0C07-3BE5-B7733EDEEFC5}"/>
              </a:ext>
            </a:extLst>
          </p:cNvPr>
          <p:cNvSpPr txBox="1"/>
          <p:nvPr/>
        </p:nvSpPr>
        <p:spPr>
          <a:xfrm>
            <a:off x="7193591" y="2179492"/>
            <a:ext cx="4501104" cy="3693319"/>
          </a:xfrm>
          <a:prstGeom prst="rect">
            <a:avLst/>
          </a:prstGeom>
          <a:noFill/>
        </p:spPr>
        <p:txBody>
          <a:bodyPr wrap="square" rtlCol="0">
            <a:spAutoFit/>
          </a:bodyPr>
          <a:lstStyle/>
          <a:p>
            <a:r>
              <a:rPr lang="en-IN" b="1" dirty="0"/>
              <a:t>Business Story</a:t>
            </a:r>
          </a:p>
          <a:p>
            <a:r>
              <a:rPr lang="en-IN" dirty="0"/>
              <a:t>📈 Electronics drove overall business growth. </a:t>
            </a:r>
          </a:p>
          <a:p>
            <a:r>
              <a:rPr lang="en-IN" dirty="0"/>
              <a:t>🛒 Refrigerator contributed the highest product revenue. </a:t>
            </a:r>
          </a:p>
          <a:p>
            <a:r>
              <a:rPr lang="en-IN" dirty="0"/>
              <a:t>💳 PayPal was the most preferred payment method. </a:t>
            </a:r>
          </a:p>
          <a:p>
            <a:r>
              <a:rPr lang="en-IN" dirty="0"/>
              <a:t>📍 Miami emerged as the highest-performing city. </a:t>
            </a:r>
          </a:p>
          <a:p>
            <a:r>
              <a:rPr lang="en-IN" dirty="0"/>
              <a:t>📅 Sales peaked in February and March before declining in April. </a:t>
            </a:r>
          </a:p>
          <a:p>
            <a:r>
              <a:rPr lang="en-IN" dirty="0"/>
              <a:t>💡 Pricing showed a positive relationship with total sales.</a:t>
            </a:r>
          </a:p>
        </p:txBody>
      </p:sp>
      <p:sp>
        <p:nvSpPr>
          <p:cNvPr id="5" name="TextBox 4">
            <a:extLst>
              <a:ext uri="{FF2B5EF4-FFF2-40B4-BE49-F238E27FC236}">
                <a16:creationId xmlns:a16="http://schemas.microsoft.com/office/drawing/2014/main" id="{8E8AE988-5536-FD5A-B082-7BBBF50BDCC1}"/>
              </a:ext>
            </a:extLst>
          </p:cNvPr>
          <p:cNvSpPr txBox="1"/>
          <p:nvPr/>
        </p:nvSpPr>
        <p:spPr>
          <a:xfrm flipH="1">
            <a:off x="497305" y="1998975"/>
            <a:ext cx="6112042" cy="2308324"/>
          </a:xfrm>
          <a:prstGeom prst="rect">
            <a:avLst/>
          </a:prstGeom>
          <a:noFill/>
        </p:spPr>
        <p:txBody>
          <a:bodyPr wrap="square" rtlCol="0">
            <a:spAutoFit/>
          </a:bodyPr>
          <a:lstStyle/>
          <a:p>
            <a:r>
              <a:rPr lang="en-IN" b="1" dirty="0"/>
              <a:t>📈 Sales Performance</a:t>
            </a:r>
          </a:p>
          <a:p>
            <a:r>
              <a:rPr lang="en-IN" dirty="0"/>
              <a:t>The Amazon sales analysis reveals strong business performance with a total revenue of </a:t>
            </a:r>
            <a:r>
              <a:rPr lang="en-IN" b="1" dirty="0"/>
              <a:t>$247K</a:t>
            </a:r>
            <a:r>
              <a:rPr lang="en-IN" dirty="0"/>
              <a:t> generated from </a:t>
            </a:r>
            <a:r>
              <a:rPr lang="en-IN" b="1" dirty="0"/>
              <a:t>250 customer orders</a:t>
            </a:r>
            <a:r>
              <a:rPr lang="en-IN" dirty="0"/>
              <a:t>. Electronics emerged as the highest revenue-generating category, with </a:t>
            </a:r>
            <a:r>
              <a:rPr lang="en-IN" b="1" dirty="0"/>
              <a:t>Refrigerator</a:t>
            </a:r>
            <a:r>
              <a:rPr lang="en-IN" dirty="0"/>
              <a:t> being the best-selling product. Customers preferred </a:t>
            </a:r>
            <a:r>
              <a:rPr lang="en-IN" b="1" dirty="0"/>
              <a:t>PayPal</a:t>
            </a:r>
            <a:r>
              <a:rPr lang="en-IN" dirty="0"/>
              <a:t> as their primary payment method, highlighting the popularity of secure digital payments.</a:t>
            </a:r>
          </a:p>
        </p:txBody>
      </p:sp>
      <p:sp>
        <p:nvSpPr>
          <p:cNvPr id="6" name="TextBox 5">
            <a:extLst>
              <a:ext uri="{FF2B5EF4-FFF2-40B4-BE49-F238E27FC236}">
                <a16:creationId xmlns:a16="http://schemas.microsoft.com/office/drawing/2014/main" id="{D0F7C8E6-F0FE-D7C3-519C-6CBE07852B14}"/>
              </a:ext>
            </a:extLst>
          </p:cNvPr>
          <p:cNvSpPr txBox="1"/>
          <p:nvPr/>
        </p:nvSpPr>
        <p:spPr>
          <a:xfrm>
            <a:off x="497305" y="4493516"/>
            <a:ext cx="5868771" cy="2031325"/>
          </a:xfrm>
          <a:prstGeom prst="rect">
            <a:avLst/>
          </a:prstGeom>
          <a:noFill/>
        </p:spPr>
        <p:txBody>
          <a:bodyPr wrap="square" rtlCol="0">
            <a:spAutoFit/>
          </a:bodyPr>
          <a:lstStyle/>
          <a:p>
            <a:r>
              <a:rPr lang="en-IN" b="1" dirty="0"/>
              <a:t>📊 Sales Trend</a:t>
            </a:r>
          </a:p>
          <a:p>
            <a:r>
              <a:rPr lang="en-IN" dirty="0"/>
              <a:t>Monthly sales peaked during </a:t>
            </a:r>
            <a:r>
              <a:rPr lang="en-IN" b="1" dirty="0"/>
              <a:t>February and March</a:t>
            </a:r>
            <a:r>
              <a:rPr lang="en-IN" dirty="0"/>
              <a:t>, followed by a noticeable decline in April. This suggests that seasonal demand or promotional campaigns may have influenced customer purchasing behavior. </a:t>
            </a:r>
            <a:r>
              <a:rPr lang="en-IN" b="1" dirty="0"/>
              <a:t>Miami</a:t>
            </a:r>
            <a:r>
              <a:rPr lang="en-IN" dirty="0"/>
              <a:t> recorded the highest revenue among all locations, indicating a strong regional market.</a:t>
            </a:r>
          </a:p>
        </p:txBody>
      </p:sp>
    </p:spTree>
    <p:extLst>
      <p:ext uri="{BB962C8B-B14F-4D97-AF65-F5344CB8AC3E}">
        <p14:creationId xmlns:p14="http://schemas.microsoft.com/office/powerpoint/2010/main" val="3585785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78D901-EB8E-5D9D-72C2-809CBD3B2AA1}"/>
              </a:ext>
            </a:extLst>
          </p:cNvPr>
          <p:cNvSpPr/>
          <p:nvPr/>
        </p:nvSpPr>
        <p:spPr>
          <a:xfrm>
            <a:off x="474563" y="277792"/>
            <a:ext cx="11242874" cy="14352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t>STATISTICAL VALIDATION</a:t>
            </a:r>
            <a:endParaRPr lang="en-IN" sz="3600" b="1" dirty="0"/>
          </a:p>
        </p:txBody>
      </p:sp>
      <p:sp>
        <p:nvSpPr>
          <p:cNvPr id="3" name="Rectangle: Rounded Corners 2">
            <a:extLst>
              <a:ext uri="{FF2B5EF4-FFF2-40B4-BE49-F238E27FC236}">
                <a16:creationId xmlns:a16="http://schemas.microsoft.com/office/drawing/2014/main" id="{AEAFFD83-3738-4DD0-A22C-4866CE39C6B7}"/>
              </a:ext>
            </a:extLst>
          </p:cNvPr>
          <p:cNvSpPr/>
          <p:nvPr/>
        </p:nvSpPr>
        <p:spPr>
          <a:xfrm>
            <a:off x="474563" y="1203767"/>
            <a:ext cx="11242874" cy="509286"/>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r>
              <a:rPr lang="en-US" sz="3200" b="1" dirty="0"/>
              <a:t>Hypothesis Testing &amp; Business Validation</a:t>
            </a:r>
            <a:endParaRPr lang="en-IN" sz="3200" b="1" dirty="0"/>
          </a:p>
        </p:txBody>
      </p:sp>
      <p:sp>
        <p:nvSpPr>
          <p:cNvPr id="4" name="TextBox 3">
            <a:extLst>
              <a:ext uri="{FF2B5EF4-FFF2-40B4-BE49-F238E27FC236}">
                <a16:creationId xmlns:a16="http://schemas.microsoft.com/office/drawing/2014/main" id="{193402F5-2EEE-3B59-153B-7AC3A7F20F9A}"/>
              </a:ext>
            </a:extLst>
          </p:cNvPr>
          <p:cNvSpPr txBox="1"/>
          <p:nvPr/>
        </p:nvSpPr>
        <p:spPr>
          <a:xfrm>
            <a:off x="582593" y="2095811"/>
            <a:ext cx="4433103" cy="1754326"/>
          </a:xfrm>
          <a:prstGeom prst="rect">
            <a:avLst/>
          </a:prstGeom>
          <a:noFill/>
        </p:spPr>
        <p:txBody>
          <a:bodyPr wrap="square" rtlCol="0">
            <a:spAutoFit/>
          </a:bodyPr>
          <a:lstStyle/>
          <a:p>
            <a:r>
              <a:rPr lang="en-IN" b="1" dirty="0"/>
              <a:t>🎯 Objective</a:t>
            </a:r>
          </a:p>
          <a:p>
            <a:r>
              <a:rPr lang="en-IN" dirty="0"/>
              <a:t>To validate whether the observed sales patterns are supported by statistical analysis and can be used for business decision-making.</a:t>
            </a:r>
          </a:p>
          <a:p>
            <a:endParaRPr lang="en-IN" dirty="0"/>
          </a:p>
        </p:txBody>
      </p:sp>
      <p:sp>
        <p:nvSpPr>
          <p:cNvPr id="5" name="TextBox 4">
            <a:extLst>
              <a:ext uri="{FF2B5EF4-FFF2-40B4-BE49-F238E27FC236}">
                <a16:creationId xmlns:a16="http://schemas.microsoft.com/office/drawing/2014/main" id="{09A4B4A9-7760-5E82-C710-BBFBAC9FF3B7}"/>
              </a:ext>
            </a:extLst>
          </p:cNvPr>
          <p:cNvSpPr txBox="1"/>
          <p:nvPr/>
        </p:nvSpPr>
        <p:spPr>
          <a:xfrm>
            <a:off x="335667" y="4271884"/>
            <a:ext cx="4575857" cy="2308324"/>
          </a:xfrm>
          <a:prstGeom prst="rect">
            <a:avLst/>
          </a:prstGeom>
          <a:noFill/>
        </p:spPr>
        <p:txBody>
          <a:bodyPr wrap="square" rtlCol="0">
            <a:spAutoFit/>
          </a:bodyPr>
          <a:lstStyle/>
          <a:p>
            <a:r>
              <a:rPr lang="en-IN" b="1" dirty="0"/>
              <a:t>🧪 Hypothesis</a:t>
            </a:r>
          </a:p>
          <a:p>
            <a:r>
              <a:rPr lang="en-IN" b="1" dirty="0"/>
              <a:t>Null Hypothesis (H₀)</a:t>
            </a:r>
          </a:p>
          <a:p>
            <a:r>
              <a:rPr lang="en-IN" dirty="0"/>
              <a:t>There is </a:t>
            </a:r>
            <a:r>
              <a:rPr lang="en-IN" b="1" dirty="0"/>
              <a:t>no significant relationship</a:t>
            </a:r>
            <a:r>
              <a:rPr lang="en-IN" dirty="0"/>
              <a:t> between product price and total sales revenue.</a:t>
            </a:r>
          </a:p>
          <a:p>
            <a:r>
              <a:rPr lang="en-IN" b="1" dirty="0"/>
              <a:t>Alternative Hypothesis (H₁)</a:t>
            </a:r>
          </a:p>
          <a:p>
            <a:r>
              <a:rPr lang="en-IN" dirty="0"/>
              <a:t>There is a </a:t>
            </a:r>
            <a:r>
              <a:rPr lang="en-IN" b="1" dirty="0"/>
              <a:t>positive relationship</a:t>
            </a:r>
            <a:r>
              <a:rPr lang="en-IN" dirty="0"/>
              <a:t> between product price and total sales revenue.</a:t>
            </a:r>
          </a:p>
        </p:txBody>
      </p:sp>
      <p:sp>
        <p:nvSpPr>
          <p:cNvPr id="7" name="TextBox 6">
            <a:extLst>
              <a:ext uri="{FF2B5EF4-FFF2-40B4-BE49-F238E27FC236}">
                <a16:creationId xmlns:a16="http://schemas.microsoft.com/office/drawing/2014/main" id="{39367C8B-097A-9DAA-5B0F-5006871C98E4}"/>
              </a:ext>
            </a:extLst>
          </p:cNvPr>
          <p:cNvSpPr txBox="1"/>
          <p:nvPr/>
        </p:nvSpPr>
        <p:spPr>
          <a:xfrm>
            <a:off x="6096000" y="1922155"/>
            <a:ext cx="5058137" cy="1200329"/>
          </a:xfrm>
          <a:prstGeom prst="rect">
            <a:avLst/>
          </a:prstGeom>
          <a:noFill/>
        </p:spPr>
        <p:txBody>
          <a:bodyPr wrap="square" rtlCol="0">
            <a:spAutoFit/>
          </a:bodyPr>
          <a:lstStyle/>
          <a:p>
            <a:r>
              <a:rPr lang="en-IN" b="1" dirty="0"/>
              <a:t>📈 Statistical Method</a:t>
            </a:r>
          </a:p>
          <a:p>
            <a:pPr marL="285750" indent="-285750">
              <a:buFont typeface="Arial" panose="020B0604020202020204" pitchFamily="34" charset="0"/>
              <a:buChar char="•"/>
            </a:pPr>
            <a:r>
              <a:rPr lang="en-IN" dirty="0"/>
              <a:t>Correlation Analysis </a:t>
            </a:r>
          </a:p>
          <a:p>
            <a:pPr marL="285750" indent="-285750">
              <a:buFont typeface="Arial" panose="020B0604020202020204" pitchFamily="34" charset="0"/>
              <a:buChar char="•"/>
            </a:pPr>
            <a:r>
              <a:rPr lang="en-IN" dirty="0"/>
              <a:t>Descriptive Statistics </a:t>
            </a:r>
          </a:p>
          <a:p>
            <a:pPr marL="285750" indent="-285750">
              <a:buFont typeface="Arial" panose="020B0604020202020204" pitchFamily="34" charset="0"/>
              <a:buChar char="•"/>
            </a:pPr>
            <a:r>
              <a:rPr lang="en-IN" dirty="0"/>
              <a:t>Dashboard Trend Analysis</a:t>
            </a:r>
          </a:p>
        </p:txBody>
      </p:sp>
      <p:sp>
        <p:nvSpPr>
          <p:cNvPr id="8" name="TextBox 7">
            <a:extLst>
              <a:ext uri="{FF2B5EF4-FFF2-40B4-BE49-F238E27FC236}">
                <a16:creationId xmlns:a16="http://schemas.microsoft.com/office/drawing/2014/main" id="{78C69D15-71F5-39C2-D776-ED6B91AA0270}"/>
              </a:ext>
            </a:extLst>
          </p:cNvPr>
          <p:cNvSpPr txBox="1"/>
          <p:nvPr/>
        </p:nvSpPr>
        <p:spPr>
          <a:xfrm flipH="1">
            <a:off x="6096000" y="3331586"/>
            <a:ext cx="5243331" cy="1477328"/>
          </a:xfrm>
          <a:prstGeom prst="rect">
            <a:avLst/>
          </a:prstGeom>
          <a:noFill/>
        </p:spPr>
        <p:txBody>
          <a:bodyPr wrap="square" rtlCol="0">
            <a:spAutoFit/>
          </a:bodyPr>
          <a:lstStyle/>
          <a:p>
            <a:r>
              <a:rPr lang="en-IN" b="1" dirty="0"/>
              <a:t>📊 Result</a:t>
            </a:r>
          </a:p>
          <a:p>
            <a:r>
              <a:rPr lang="en-IN" dirty="0"/>
              <a:t>Positive correlation observed between </a:t>
            </a:r>
            <a:r>
              <a:rPr lang="en-IN" b="1" dirty="0"/>
              <a:t>Price</a:t>
            </a:r>
            <a:r>
              <a:rPr lang="en-IN" dirty="0"/>
              <a:t> and </a:t>
            </a:r>
            <a:r>
              <a:rPr lang="en-IN" b="1" dirty="0"/>
              <a:t>Total Sales</a:t>
            </a:r>
            <a:r>
              <a:rPr lang="en-IN" dirty="0"/>
              <a:t>. </a:t>
            </a:r>
          </a:p>
          <a:p>
            <a:r>
              <a:rPr lang="en-IN" dirty="0"/>
              <a:t>Higher-priced products generated greater revenue. </a:t>
            </a:r>
          </a:p>
          <a:p>
            <a:r>
              <a:rPr lang="en-IN" dirty="0"/>
              <a:t>Sales trends support the business findings. </a:t>
            </a:r>
          </a:p>
        </p:txBody>
      </p:sp>
      <p:sp>
        <p:nvSpPr>
          <p:cNvPr id="9" name="TextBox 8">
            <a:extLst>
              <a:ext uri="{FF2B5EF4-FFF2-40B4-BE49-F238E27FC236}">
                <a16:creationId xmlns:a16="http://schemas.microsoft.com/office/drawing/2014/main" id="{5997872C-5F27-394C-9E2B-8991DD94DAB5}"/>
              </a:ext>
            </a:extLst>
          </p:cNvPr>
          <p:cNvSpPr txBox="1"/>
          <p:nvPr/>
        </p:nvSpPr>
        <p:spPr>
          <a:xfrm flipH="1">
            <a:off x="6095999" y="5103674"/>
            <a:ext cx="5621437" cy="1477328"/>
          </a:xfrm>
          <a:prstGeom prst="rect">
            <a:avLst/>
          </a:prstGeom>
          <a:noFill/>
        </p:spPr>
        <p:txBody>
          <a:bodyPr wrap="square" rtlCol="0">
            <a:spAutoFit/>
          </a:bodyPr>
          <a:lstStyle/>
          <a:p>
            <a:r>
              <a:rPr lang="en-IN" b="1" dirty="0"/>
              <a:t>💼 Business Conclusion</a:t>
            </a:r>
          </a:p>
          <a:p>
            <a:r>
              <a:rPr lang="en-IN" dirty="0"/>
              <a:t>The statistical analysis supports the conclusion that </a:t>
            </a:r>
            <a:r>
              <a:rPr lang="en-IN" b="1" dirty="0"/>
              <a:t>pricing influences total revenue</a:t>
            </a:r>
            <a:r>
              <a:rPr lang="en-IN" dirty="0"/>
              <a:t>. Products with higher prices contributed more to overall sales, making pricing strategy an important factor for business growth.</a:t>
            </a:r>
          </a:p>
        </p:txBody>
      </p:sp>
    </p:spTree>
    <p:extLst>
      <p:ext uri="{BB962C8B-B14F-4D97-AF65-F5344CB8AC3E}">
        <p14:creationId xmlns:p14="http://schemas.microsoft.com/office/powerpoint/2010/main" val="1220158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8767449-44D6-3B46-4C1C-47B3E9AA90A6}"/>
              </a:ext>
            </a:extLst>
          </p:cNvPr>
          <p:cNvSpPr/>
          <p:nvPr/>
        </p:nvSpPr>
        <p:spPr>
          <a:xfrm>
            <a:off x="555585" y="428263"/>
            <a:ext cx="11076972" cy="13542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t>BUSINESS RECOMMENDATIONS</a:t>
            </a:r>
            <a:endParaRPr lang="en-IN" sz="3600" b="1" dirty="0"/>
          </a:p>
        </p:txBody>
      </p:sp>
      <p:sp>
        <p:nvSpPr>
          <p:cNvPr id="3" name="Rectangle 2">
            <a:extLst>
              <a:ext uri="{FF2B5EF4-FFF2-40B4-BE49-F238E27FC236}">
                <a16:creationId xmlns:a16="http://schemas.microsoft.com/office/drawing/2014/main" id="{126C8A56-AADA-BBDE-9AEC-820845FBC6C3}"/>
              </a:ext>
            </a:extLst>
          </p:cNvPr>
          <p:cNvSpPr/>
          <p:nvPr/>
        </p:nvSpPr>
        <p:spPr>
          <a:xfrm>
            <a:off x="555584" y="1354238"/>
            <a:ext cx="11076971" cy="428263"/>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r>
              <a:rPr lang="en-US" sz="3200" b="1" dirty="0"/>
              <a:t>Actionable Insights for Business Growth</a:t>
            </a:r>
            <a:endParaRPr lang="en-IN" sz="3200" b="1" dirty="0"/>
          </a:p>
        </p:txBody>
      </p:sp>
      <p:sp>
        <p:nvSpPr>
          <p:cNvPr id="4" name="TextBox 3">
            <a:extLst>
              <a:ext uri="{FF2B5EF4-FFF2-40B4-BE49-F238E27FC236}">
                <a16:creationId xmlns:a16="http://schemas.microsoft.com/office/drawing/2014/main" id="{FD7D09FC-0CD9-0F8A-5AE6-BFA18044CFCD}"/>
              </a:ext>
            </a:extLst>
          </p:cNvPr>
          <p:cNvSpPr txBox="1"/>
          <p:nvPr/>
        </p:nvSpPr>
        <p:spPr>
          <a:xfrm>
            <a:off x="555585" y="1953308"/>
            <a:ext cx="8044406" cy="5078313"/>
          </a:xfrm>
          <a:prstGeom prst="rect">
            <a:avLst/>
          </a:prstGeom>
          <a:noFill/>
        </p:spPr>
        <p:txBody>
          <a:bodyPr wrap="square" rtlCol="0">
            <a:spAutoFit/>
          </a:bodyPr>
          <a:lstStyle/>
          <a:p>
            <a:r>
              <a:rPr lang="en-IN" b="1" dirty="0"/>
              <a:t>📈 Recommendations</a:t>
            </a:r>
          </a:p>
          <a:p>
            <a:endParaRPr lang="en-IN" b="1" dirty="0"/>
          </a:p>
          <a:p>
            <a:r>
              <a:rPr lang="en-IN" b="1" dirty="0"/>
              <a:t>💻 Increase Focus on Electronics</a:t>
            </a:r>
          </a:p>
          <a:p>
            <a:r>
              <a:rPr lang="en-IN" dirty="0"/>
              <a:t>Electronics generated the highest revenue. Expanding product variety and running targeted promotions can further increase sales.</a:t>
            </a:r>
          </a:p>
          <a:p>
            <a:r>
              <a:rPr lang="en-IN" b="1" dirty="0"/>
              <a:t>🛒 Promote Best-Selling Products</a:t>
            </a:r>
          </a:p>
          <a:p>
            <a:r>
              <a:rPr lang="en-IN" dirty="0"/>
              <a:t>Refrigerator was the best-selling product. Bundle offers and seasonal discounts can improve customer purchases.</a:t>
            </a:r>
          </a:p>
          <a:p>
            <a:r>
              <a:rPr lang="en-IN" b="1" dirty="0"/>
              <a:t>💳 Strengthen Digital Payments</a:t>
            </a:r>
          </a:p>
          <a:p>
            <a:r>
              <a:rPr lang="en-IN" dirty="0"/>
              <a:t>PayPal was the most preferred payment method. Offering cashback and exclusive online payment discounts can enhance customer experience.</a:t>
            </a:r>
          </a:p>
          <a:p>
            <a:r>
              <a:rPr lang="en-IN" b="1" dirty="0"/>
              <a:t>📍 Expand High-Performing Markets</a:t>
            </a:r>
          </a:p>
          <a:p>
            <a:r>
              <a:rPr lang="en-IN" dirty="0"/>
              <a:t>Miami recorded the highest sales. Similar marketing strategies can be implemented in other cities to boost revenue.</a:t>
            </a:r>
          </a:p>
          <a:p>
            <a:r>
              <a:rPr lang="en-IN" b="1" dirty="0"/>
              <a:t>📅 Improve Low-Sales Months</a:t>
            </a:r>
          </a:p>
          <a:p>
            <a:r>
              <a:rPr lang="en-IN" dirty="0"/>
              <a:t>Sales declined in April. Running promotional campaigns, festive offers, and loyalty programs can help maintain consistent monthly sales.</a:t>
            </a:r>
          </a:p>
          <a:p>
            <a:endParaRPr lang="en-IN" dirty="0"/>
          </a:p>
        </p:txBody>
      </p:sp>
      <p:sp>
        <p:nvSpPr>
          <p:cNvPr id="6" name="TextBox 5">
            <a:extLst>
              <a:ext uri="{FF2B5EF4-FFF2-40B4-BE49-F238E27FC236}">
                <a16:creationId xmlns:a16="http://schemas.microsoft.com/office/drawing/2014/main" id="{3DEB93B9-A9BD-1758-9A4E-E181137B1594}"/>
              </a:ext>
            </a:extLst>
          </p:cNvPr>
          <p:cNvSpPr txBox="1"/>
          <p:nvPr/>
        </p:nvSpPr>
        <p:spPr>
          <a:xfrm>
            <a:off x="9385781" y="2230306"/>
            <a:ext cx="2246774" cy="3416320"/>
          </a:xfrm>
          <a:prstGeom prst="rect">
            <a:avLst/>
          </a:prstGeom>
          <a:noFill/>
        </p:spPr>
        <p:txBody>
          <a:bodyPr wrap="square" rtlCol="0">
            <a:spAutoFit/>
          </a:bodyPr>
          <a:lstStyle/>
          <a:p>
            <a:r>
              <a:rPr lang="en-IN" b="1"/>
              <a:t>📌 Expected Business Impact</a:t>
            </a:r>
          </a:p>
          <a:p>
            <a:r>
              <a:rPr lang="en-IN"/>
              <a:t>✔ Higher Revenue</a:t>
            </a:r>
          </a:p>
          <a:p>
            <a:r>
              <a:rPr lang="en-IN"/>
              <a:t>✔ Increased Customer Satisfaction</a:t>
            </a:r>
          </a:p>
          <a:p>
            <a:r>
              <a:rPr lang="en-IN"/>
              <a:t>✔ Better Sales Performance</a:t>
            </a:r>
          </a:p>
          <a:p>
            <a:r>
              <a:rPr lang="en-IN"/>
              <a:t>✔ Improved Marketing Strategy</a:t>
            </a:r>
          </a:p>
          <a:p>
            <a:r>
              <a:rPr lang="en-IN"/>
              <a:t>✔ Sustainable Business Growth</a:t>
            </a:r>
          </a:p>
        </p:txBody>
      </p:sp>
    </p:spTree>
    <p:extLst>
      <p:ext uri="{BB962C8B-B14F-4D97-AF65-F5344CB8AC3E}">
        <p14:creationId xmlns:p14="http://schemas.microsoft.com/office/powerpoint/2010/main" val="781165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2BCC24E-C936-735B-1ED5-340D9BD08601}"/>
              </a:ext>
            </a:extLst>
          </p:cNvPr>
          <p:cNvSpPr/>
          <p:nvPr/>
        </p:nvSpPr>
        <p:spPr>
          <a:xfrm>
            <a:off x="314960" y="284480"/>
            <a:ext cx="11460480" cy="13411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t>MONTHLY SALES TREND</a:t>
            </a:r>
            <a:endParaRPr lang="en-IN" sz="3600" b="1" dirty="0"/>
          </a:p>
        </p:txBody>
      </p:sp>
      <p:sp>
        <p:nvSpPr>
          <p:cNvPr id="3" name="Rectangle 2">
            <a:extLst>
              <a:ext uri="{FF2B5EF4-FFF2-40B4-BE49-F238E27FC236}">
                <a16:creationId xmlns:a16="http://schemas.microsoft.com/office/drawing/2014/main" id="{67A2DFCF-EA2B-F4FB-5E5B-59709010B3DC}"/>
              </a:ext>
            </a:extLst>
          </p:cNvPr>
          <p:cNvSpPr/>
          <p:nvPr/>
        </p:nvSpPr>
        <p:spPr>
          <a:xfrm>
            <a:off x="314960" y="1209040"/>
            <a:ext cx="11440160" cy="416560"/>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r>
              <a:rPr lang="en-US" sz="3200" b="1" dirty="0"/>
              <a:t>Revenue Performance Across Months</a:t>
            </a:r>
            <a:endParaRPr lang="en-IN" sz="3200" b="1" dirty="0"/>
          </a:p>
        </p:txBody>
      </p:sp>
      <p:sp>
        <p:nvSpPr>
          <p:cNvPr id="6" name="TextBox 5">
            <a:extLst>
              <a:ext uri="{FF2B5EF4-FFF2-40B4-BE49-F238E27FC236}">
                <a16:creationId xmlns:a16="http://schemas.microsoft.com/office/drawing/2014/main" id="{4952DE62-D79B-FD80-8117-46D13D16BB73}"/>
              </a:ext>
            </a:extLst>
          </p:cNvPr>
          <p:cNvSpPr txBox="1"/>
          <p:nvPr/>
        </p:nvSpPr>
        <p:spPr>
          <a:xfrm>
            <a:off x="436881" y="1951672"/>
            <a:ext cx="5171439" cy="2862322"/>
          </a:xfrm>
          <a:prstGeom prst="rect">
            <a:avLst/>
          </a:prstGeom>
          <a:noFill/>
        </p:spPr>
        <p:txBody>
          <a:bodyPr wrap="square" rtlCol="0">
            <a:spAutoFit/>
          </a:bodyPr>
          <a:lstStyle/>
          <a:p>
            <a:r>
              <a:rPr lang="en-IN" b="1" dirty="0"/>
              <a:t>📈 Analysis</a:t>
            </a:r>
          </a:p>
          <a:p>
            <a:pPr marL="285750" indent="-285750">
              <a:buFont typeface="Arial" panose="020B0604020202020204" pitchFamily="34" charset="0"/>
              <a:buChar char="•"/>
            </a:pPr>
            <a:r>
              <a:rPr lang="en-IN" dirty="0"/>
              <a:t>Sales increased steadily during the initial months. </a:t>
            </a:r>
          </a:p>
          <a:p>
            <a:pPr marL="285750" indent="-285750">
              <a:buFont typeface="Arial" panose="020B0604020202020204" pitchFamily="34" charset="0"/>
              <a:buChar char="•"/>
            </a:pPr>
            <a:r>
              <a:rPr lang="en-IN" dirty="0"/>
              <a:t>Revenue peaked in </a:t>
            </a:r>
            <a:r>
              <a:rPr lang="en-IN" b="1" dirty="0"/>
              <a:t>February and March</a:t>
            </a:r>
            <a:r>
              <a:rPr lang="en-IN" dirty="0"/>
              <a:t>. </a:t>
            </a:r>
          </a:p>
          <a:p>
            <a:pPr marL="285750" indent="-285750">
              <a:buFont typeface="Arial" panose="020B0604020202020204" pitchFamily="34" charset="0"/>
              <a:buChar char="•"/>
            </a:pPr>
            <a:r>
              <a:rPr lang="en-IN" dirty="0"/>
              <a:t>A decline was observed in </a:t>
            </a:r>
            <a:r>
              <a:rPr lang="en-IN" b="1" dirty="0"/>
              <a:t>April</a:t>
            </a:r>
            <a:r>
              <a:rPr lang="en-IN" dirty="0"/>
              <a:t>, indicating possible seasonal effects or reduced customer demand. </a:t>
            </a:r>
          </a:p>
          <a:p>
            <a:pPr marL="285750" indent="-285750">
              <a:buFont typeface="Arial" panose="020B0604020202020204" pitchFamily="34" charset="0"/>
              <a:buChar char="•"/>
            </a:pPr>
            <a:r>
              <a:rPr lang="en-IN" dirty="0"/>
              <a:t>Stable monthly monitoring can help improve future sales forecasting.</a:t>
            </a:r>
          </a:p>
          <a:p>
            <a:endParaRPr lang="en-IN" dirty="0"/>
          </a:p>
        </p:txBody>
      </p:sp>
      <p:pic>
        <p:nvPicPr>
          <p:cNvPr id="8" name="Picture 7">
            <a:extLst>
              <a:ext uri="{FF2B5EF4-FFF2-40B4-BE49-F238E27FC236}">
                <a16:creationId xmlns:a16="http://schemas.microsoft.com/office/drawing/2014/main" id="{0456440E-650E-4D79-027A-166782B3A7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3600" y="1951672"/>
            <a:ext cx="5648959" cy="3829368"/>
          </a:xfrm>
          <a:prstGeom prst="rect">
            <a:avLst/>
          </a:prstGeom>
        </p:spPr>
      </p:pic>
      <p:sp>
        <p:nvSpPr>
          <p:cNvPr id="9" name="TextBox 8">
            <a:extLst>
              <a:ext uri="{FF2B5EF4-FFF2-40B4-BE49-F238E27FC236}">
                <a16:creationId xmlns:a16="http://schemas.microsoft.com/office/drawing/2014/main" id="{276C393F-8981-C66D-2DEC-ACAD37CB9E9E}"/>
              </a:ext>
            </a:extLst>
          </p:cNvPr>
          <p:cNvSpPr txBox="1"/>
          <p:nvPr/>
        </p:nvSpPr>
        <p:spPr>
          <a:xfrm>
            <a:off x="436881" y="4813994"/>
            <a:ext cx="4754880" cy="1200329"/>
          </a:xfrm>
          <a:prstGeom prst="rect">
            <a:avLst/>
          </a:prstGeom>
          <a:noFill/>
        </p:spPr>
        <p:txBody>
          <a:bodyPr wrap="square" rtlCol="0">
            <a:spAutoFit/>
          </a:bodyPr>
          <a:lstStyle/>
          <a:p>
            <a:r>
              <a:rPr lang="en-IN" b="1" dirty="0"/>
              <a:t>🎯 Key Insight</a:t>
            </a:r>
          </a:p>
          <a:p>
            <a:r>
              <a:rPr lang="en-IN" dirty="0"/>
              <a:t>Peak sales occurred during February and March, making them the strongest-performing months.</a:t>
            </a:r>
          </a:p>
        </p:txBody>
      </p:sp>
    </p:spTree>
    <p:extLst>
      <p:ext uri="{BB962C8B-B14F-4D97-AF65-F5344CB8AC3E}">
        <p14:creationId xmlns:p14="http://schemas.microsoft.com/office/powerpoint/2010/main" val="521051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49C7F0-6C70-FCCB-0FBA-AC4B0512BD77}"/>
              </a:ext>
            </a:extLst>
          </p:cNvPr>
          <p:cNvSpPr/>
          <p:nvPr/>
        </p:nvSpPr>
        <p:spPr>
          <a:xfrm>
            <a:off x="436880" y="396240"/>
            <a:ext cx="11389360" cy="14020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t>PRODUCT PERFORMANCE</a:t>
            </a:r>
            <a:endParaRPr lang="en-IN" sz="3600" b="1" dirty="0"/>
          </a:p>
        </p:txBody>
      </p:sp>
      <p:sp>
        <p:nvSpPr>
          <p:cNvPr id="3" name="Rectangle 2">
            <a:extLst>
              <a:ext uri="{FF2B5EF4-FFF2-40B4-BE49-F238E27FC236}">
                <a16:creationId xmlns:a16="http://schemas.microsoft.com/office/drawing/2014/main" id="{82A5EDED-25E4-E67C-21E8-E8B0FEB7D47A}"/>
              </a:ext>
            </a:extLst>
          </p:cNvPr>
          <p:cNvSpPr/>
          <p:nvPr/>
        </p:nvSpPr>
        <p:spPr>
          <a:xfrm>
            <a:off x="436880" y="1330960"/>
            <a:ext cx="11389360" cy="467360"/>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r>
              <a:rPr lang="en-US" sz="3200" b="1" dirty="0"/>
              <a:t>Category &amp; Product Insights</a:t>
            </a:r>
            <a:endParaRPr lang="en-IN" sz="3200" b="1" dirty="0"/>
          </a:p>
        </p:txBody>
      </p:sp>
      <p:sp>
        <p:nvSpPr>
          <p:cNvPr id="4" name="TextBox 3">
            <a:extLst>
              <a:ext uri="{FF2B5EF4-FFF2-40B4-BE49-F238E27FC236}">
                <a16:creationId xmlns:a16="http://schemas.microsoft.com/office/drawing/2014/main" id="{08E44341-DCB3-F044-E0CA-600542884E59}"/>
              </a:ext>
            </a:extLst>
          </p:cNvPr>
          <p:cNvSpPr txBox="1"/>
          <p:nvPr/>
        </p:nvSpPr>
        <p:spPr>
          <a:xfrm>
            <a:off x="304800" y="2113280"/>
            <a:ext cx="4968240" cy="2862322"/>
          </a:xfrm>
          <a:prstGeom prst="rect">
            <a:avLst/>
          </a:prstGeom>
          <a:noFill/>
        </p:spPr>
        <p:txBody>
          <a:bodyPr wrap="square" rtlCol="0">
            <a:spAutoFit/>
          </a:bodyPr>
          <a:lstStyle/>
          <a:p>
            <a:r>
              <a:rPr lang="en-IN" b="1" dirty="0"/>
              <a:t>📊 Analysis</a:t>
            </a:r>
          </a:p>
          <a:p>
            <a:pPr marL="285750" indent="-285750">
              <a:buFont typeface="Arial" panose="020B0604020202020204" pitchFamily="34" charset="0"/>
              <a:buChar char="•"/>
            </a:pPr>
            <a:r>
              <a:rPr lang="en-IN" b="1" dirty="0"/>
              <a:t>Electronics</a:t>
            </a:r>
            <a:r>
              <a:rPr lang="en-IN" dirty="0"/>
              <a:t> generated the highest overall revenue. </a:t>
            </a:r>
          </a:p>
          <a:p>
            <a:pPr marL="285750" indent="-285750">
              <a:buFont typeface="Arial" panose="020B0604020202020204" pitchFamily="34" charset="0"/>
              <a:buChar char="•"/>
            </a:pPr>
            <a:r>
              <a:rPr lang="en-IN" b="1" dirty="0"/>
              <a:t>Refrigerator</a:t>
            </a:r>
            <a:r>
              <a:rPr lang="en-IN" dirty="0"/>
              <a:t> emerged as the best-selling product. </a:t>
            </a:r>
          </a:p>
          <a:p>
            <a:pPr marL="285750" indent="-285750">
              <a:buFont typeface="Arial" panose="020B0604020202020204" pitchFamily="34" charset="0"/>
              <a:buChar char="•"/>
            </a:pPr>
            <a:r>
              <a:rPr lang="en-IN" dirty="0"/>
              <a:t>High-performing products significantly contributed to total sales. </a:t>
            </a:r>
          </a:p>
          <a:p>
            <a:pPr marL="285750" indent="-285750">
              <a:buFont typeface="Arial" panose="020B0604020202020204" pitchFamily="34" charset="0"/>
              <a:buChar char="•"/>
            </a:pPr>
            <a:r>
              <a:rPr lang="en-IN" dirty="0"/>
              <a:t>Expanding successful product categories can increase future revenue.</a:t>
            </a:r>
          </a:p>
          <a:p>
            <a:endParaRPr lang="en-IN" dirty="0"/>
          </a:p>
        </p:txBody>
      </p:sp>
      <p:sp>
        <p:nvSpPr>
          <p:cNvPr id="5" name="TextBox 4">
            <a:extLst>
              <a:ext uri="{FF2B5EF4-FFF2-40B4-BE49-F238E27FC236}">
                <a16:creationId xmlns:a16="http://schemas.microsoft.com/office/drawing/2014/main" id="{626034A8-F984-A63B-C600-760BE4576ACD}"/>
              </a:ext>
            </a:extLst>
          </p:cNvPr>
          <p:cNvSpPr txBox="1"/>
          <p:nvPr/>
        </p:nvSpPr>
        <p:spPr>
          <a:xfrm>
            <a:off x="436880" y="5435600"/>
            <a:ext cx="4968240" cy="923330"/>
          </a:xfrm>
          <a:prstGeom prst="rect">
            <a:avLst/>
          </a:prstGeom>
          <a:noFill/>
        </p:spPr>
        <p:txBody>
          <a:bodyPr wrap="square" rtlCol="0">
            <a:spAutoFit/>
          </a:bodyPr>
          <a:lstStyle/>
          <a:p>
            <a:r>
              <a:rPr lang="en-IN" b="1" dirty="0"/>
              <a:t>💡 Key Insight</a:t>
            </a:r>
          </a:p>
          <a:p>
            <a:r>
              <a:rPr lang="en-IN" dirty="0"/>
              <a:t>Electronics remained the primary revenue driver throughout the analysis period.</a:t>
            </a:r>
          </a:p>
        </p:txBody>
      </p:sp>
      <p:pic>
        <p:nvPicPr>
          <p:cNvPr id="7" name="Picture 6">
            <a:extLst>
              <a:ext uri="{FF2B5EF4-FFF2-40B4-BE49-F238E27FC236}">
                <a16:creationId xmlns:a16="http://schemas.microsoft.com/office/drawing/2014/main" id="{5D7BFD14-2C88-EABD-216B-880D6CC159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3439" y="2265680"/>
            <a:ext cx="5821681" cy="3631585"/>
          </a:xfrm>
          <a:prstGeom prst="rect">
            <a:avLst/>
          </a:prstGeom>
        </p:spPr>
      </p:pic>
    </p:spTree>
    <p:extLst>
      <p:ext uri="{BB962C8B-B14F-4D97-AF65-F5344CB8AC3E}">
        <p14:creationId xmlns:p14="http://schemas.microsoft.com/office/powerpoint/2010/main" val="1362060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BC55F9-61FC-3B0D-D124-E8F5FBEADE01}"/>
              </a:ext>
            </a:extLst>
          </p:cNvPr>
          <p:cNvSpPr/>
          <p:nvPr/>
        </p:nvSpPr>
        <p:spPr>
          <a:xfrm>
            <a:off x="579120" y="599440"/>
            <a:ext cx="11033760" cy="152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t>CORRELATION ANALYSIS</a:t>
            </a:r>
            <a:endParaRPr lang="en-IN" sz="3600" b="1" dirty="0"/>
          </a:p>
        </p:txBody>
      </p:sp>
      <p:sp>
        <p:nvSpPr>
          <p:cNvPr id="4" name="Rectangle 3">
            <a:extLst>
              <a:ext uri="{FF2B5EF4-FFF2-40B4-BE49-F238E27FC236}">
                <a16:creationId xmlns:a16="http://schemas.microsoft.com/office/drawing/2014/main" id="{308D5B20-3CE2-4B2C-03E7-CE8A5DDD4D03}"/>
              </a:ext>
            </a:extLst>
          </p:cNvPr>
          <p:cNvSpPr/>
          <p:nvPr/>
        </p:nvSpPr>
        <p:spPr>
          <a:xfrm>
            <a:off x="579120" y="1656080"/>
            <a:ext cx="11033760" cy="467360"/>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r>
              <a:rPr lang="en-US" sz="3200" b="1" dirty="0"/>
              <a:t>Statistical Relationship Between Variables</a:t>
            </a:r>
            <a:endParaRPr lang="en-IN" sz="3200" b="1" dirty="0"/>
          </a:p>
        </p:txBody>
      </p:sp>
      <p:sp>
        <p:nvSpPr>
          <p:cNvPr id="5" name="TextBox 4">
            <a:extLst>
              <a:ext uri="{FF2B5EF4-FFF2-40B4-BE49-F238E27FC236}">
                <a16:creationId xmlns:a16="http://schemas.microsoft.com/office/drawing/2014/main" id="{BD1E70BE-39B4-095D-8A0C-018FD812FFB2}"/>
              </a:ext>
            </a:extLst>
          </p:cNvPr>
          <p:cNvSpPr txBox="1"/>
          <p:nvPr/>
        </p:nvSpPr>
        <p:spPr>
          <a:xfrm>
            <a:off x="579120" y="2600960"/>
            <a:ext cx="4998720" cy="2308324"/>
          </a:xfrm>
          <a:prstGeom prst="rect">
            <a:avLst/>
          </a:prstGeom>
          <a:noFill/>
        </p:spPr>
        <p:txBody>
          <a:bodyPr wrap="square" rtlCol="0">
            <a:spAutoFit/>
          </a:bodyPr>
          <a:lstStyle/>
          <a:p>
            <a:r>
              <a:rPr lang="en-IN" b="1" dirty="0"/>
              <a:t>📈 Observation</a:t>
            </a:r>
          </a:p>
          <a:p>
            <a:pPr marL="285750" indent="-285750">
              <a:buFont typeface="Arial" panose="020B0604020202020204" pitchFamily="34" charset="0"/>
              <a:buChar char="•"/>
            </a:pPr>
            <a:r>
              <a:rPr lang="en-IN" dirty="0"/>
              <a:t>A positive relationship exists between </a:t>
            </a:r>
            <a:r>
              <a:rPr lang="en-IN" b="1" dirty="0"/>
              <a:t>Price</a:t>
            </a:r>
            <a:r>
              <a:rPr lang="en-IN" dirty="0"/>
              <a:t> and </a:t>
            </a:r>
            <a:r>
              <a:rPr lang="en-IN" b="1" dirty="0"/>
              <a:t>Total Sales</a:t>
            </a:r>
            <a:r>
              <a:rPr lang="en-IN" dirty="0"/>
              <a:t>. </a:t>
            </a:r>
          </a:p>
          <a:p>
            <a:pPr marL="285750" indent="-285750">
              <a:buFont typeface="Arial" panose="020B0604020202020204" pitchFamily="34" charset="0"/>
              <a:buChar char="•"/>
            </a:pPr>
            <a:r>
              <a:rPr lang="en-IN" dirty="0"/>
              <a:t>Higher-priced products generated higher revenue. </a:t>
            </a:r>
          </a:p>
          <a:p>
            <a:pPr marL="285750" indent="-285750">
              <a:buFont typeface="Arial" panose="020B0604020202020204" pitchFamily="34" charset="0"/>
              <a:buChar char="•"/>
            </a:pPr>
            <a:r>
              <a:rPr lang="en-IN" dirty="0"/>
              <a:t>Strong positive correlations support the business insights obtained from the dashboard.</a:t>
            </a:r>
          </a:p>
        </p:txBody>
      </p:sp>
      <p:sp>
        <p:nvSpPr>
          <p:cNvPr id="6" name="TextBox 5">
            <a:extLst>
              <a:ext uri="{FF2B5EF4-FFF2-40B4-BE49-F238E27FC236}">
                <a16:creationId xmlns:a16="http://schemas.microsoft.com/office/drawing/2014/main" id="{9E6E1C6C-5F20-2F92-6854-BD7B5F1F2088}"/>
              </a:ext>
            </a:extLst>
          </p:cNvPr>
          <p:cNvSpPr txBox="1"/>
          <p:nvPr/>
        </p:nvSpPr>
        <p:spPr>
          <a:xfrm>
            <a:off x="579120" y="5103674"/>
            <a:ext cx="4460240" cy="1754326"/>
          </a:xfrm>
          <a:prstGeom prst="rect">
            <a:avLst/>
          </a:prstGeom>
          <a:noFill/>
        </p:spPr>
        <p:txBody>
          <a:bodyPr wrap="square" rtlCol="0">
            <a:spAutoFit/>
          </a:bodyPr>
          <a:lstStyle/>
          <a:p>
            <a:r>
              <a:rPr lang="en-IN" b="1" dirty="0"/>
              <a:t>✅ Validation</a:t>
            </a:r>
          </a:p>
          <a:p>
            <a:r>
              <a:rPr lang="en-IN" dirty="0"/>
              <a:t>The correlation analysis confirms that pricing has a measurable impact on overall revenue, supporting the conclusions drawn from the dashboard.</a:t>
            </a:r>
          </a:p>
          <a:p>
            <a:endParaRPr lang="en-IN" dirty="0"/>
          </a:p>
        </p:txBody>
      </p:sp>
      <p:pic>
        <p:nvPicPr>
          <p:cNvPr id="8" name="Picture 7">
            <a:extLst>
              <a:ext uri="{FF2B5EF4-FFF2-40B4-BE49-F238E27FC236}">
                <a16:creationId xmlns:a16="http://schemas.microsoft.com/office/drawing/2014/main" id="{057114FB-3A2C-B6FF-2BC7-A9B5C47B19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2687315"/>
            <a:ext cx="4761660" cy="3571245"/>
          </a:xfrm>
          <a:prstGeom prst="rect">
            <a:avLst/>
          </a:prstGeom>
        </p:spPr>
      </p:pic>
    </p:spTree>
    <p:extLst>
      <p:ext uri="{BB962C8B-B14F-4D97-AF65-F5344CB8AC3E}">
        <p14:creationId xmlns:p14="http://schemas.microsoft.com/office/powerpoint/2010/main" val="3266883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20B751-DFB8-0949-8858-5617A06913BA}"/>
              </a:ext>
            </a:extLst>
          </p:cNvPr>
          <p:cNvSpPr/>
          <p:nvPr/>
        </p:nvSpPr>
        <p:spPr>
          <a:xfrm>
            <a:off x="477520" y="304800"/>
            <a:ext cx="11257280" cy="1381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t>CONCLUSION</a:t>
            </a:r>
            <a:endParaRPr lang="en-IN" sz="3600" b="1" dirty="0"/>
          </a:p>
        </p:txBody>
      </p:sp>
      <p:sp>
        <p:nvSpPr>
          <p:cNvPr id="3" name="Rectangle 2">
            <a:extLst>
              <a:ext uri="{FF2B5EF4-FFF2-40B4-BE49-F238E27FC236}">
                <a16:creationId xmlns:a16="http://schemas.microsoft.com/office/drawing/2014/main" id="{CDB32491-F440-DD81-84AA-8190B848CB4D}"/>
              </a:ext>
            </a:extLst>
          </p:cNvPr>
          <p:cNvSpPr/>
          <p:nvPr/>
        </p:nvSpPr>
        <p:spPr>
          <a:xfrm>
            <a:off x="477520" y="1219200"/>
            <a:ext cx="11257280" cy="467360"/>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r>
              <a:rPr lang="en-US" sz="3200" b="1" dirty="0"/>
              <a:t>Project Summary &amp; Final Insights</a:t>
            </a:r>
            <a:endParaRPr lang="en-IN" sz="3200" b="1" dirty="0"/>
          </a:p>
        </p:txBody>
      </p:sp>
      <p:sp>
        <p:nvSpPr>
          <p:cNvPr id="4" name="TextBox 3">
            <a:extLst>
              <a:ext uri="{FF2B5EF4-FFF2-40B4-BE49-F238E27FC236}">
                <a16:creationId xmlns:a16="http://schemas.microsoft.com/office/drawing/2014/main" id="{DB6AD57C-D9BA-9D63-C604-55E392265843}"/>
              </a:ext>
            </a:extLst>
          </p:cNvPr>
          <p:cNvSpPr txBox="1"/>
          <p:nvPr/>
        </p:nvSpPr>
        <p:spPr>
          <a:xfrm>
            <a:off x="477519" y="2132566"/>
            <a:ext cx="6397843" cy="2585323"/>
          </a:xfrm>
          <a:prstGeom prst="rect">
            <a:avLst/>
          </a:prstGeom>
          <a:noFill/>
        </p:spPr>
        <p:txBody>
          <a:bodyPr wrap="square" rtlCol="0">
            <a:spAutoFit/>
          </a:bodyPr>
          <a:lstStyle/>
          <a:p>
            <a:r>
              <a:rPr lang="en-IN" b="1" dirty="0"/>
              <a:t>📌 Project Summary</a:t>
            </a:r>
          </a:p>
          <a:p>
            <a:r>
              <a:rPr lang="en-IN" dirty="0"/>
              <a:t>The Amazon Sales Analysis project successfully transformed raw sales data into meaningful business insights using </a:t>
            </a:r>
            <a:r>
              <a:rPr lang="en-IN" b="1" dirty="0"/>
              <a:t>Python, SQL, and Power BI</a:t>
            </a:r>
            <a:r>
              <a:rPr lang="en-IN" dirty="0"/>
              <a:t>. Through interactive dashboards, KPI analysis, data storytelling, and statistical validation, the project identified key trends in revenue, customer behavior, product performance, and regional sales. These insights provide valuable support for data-driven business decisions.</a:t>
            </a:r>
          </a:p>
          <a:p>
            <a:endParaRPr lang="en-IN" dirty="0"/>
          </a:p>
        </p:txBody>
      </p:sp>
      <p:sp>
        <p:nvSpPr>
          <p:cNvPr id="5" name="TextBox 4">
            <a:extLst>
              <a:ext uri="{FF2B5EF4-FFF2-40B4-BE49-F238E27FC236}">
                <a16:creationId xmlns:a16="http://schemas.microsoft.com/office/drawing/2014/main" id="{D61921B0-EFE6-7B65-2E19-68C98D0DD1AF}"/>
              </a:ext>
            </a:extLst>
          </p:cNvPr>
          <p:cNvSpPr txBox="1"/>
          <p:nvPr/>
        </p:nvSpPr>
        <p:spPr>
          <a:xfrm>
            <a:off x="477519" y="5163895"/>
            <a:ext cx="6397843" cy="1477328"/>
          </a:xfrm>
          <a:prstGeom prst="rect">
            <a:avLst/>
          </a:prstGeom>
          <a:noFill/>
        </p:spPr>
        <p:txBody>
          <a:bodyPr wrap="square" rtlCol="0">
            <a:spAutoFit/>
          </a:bodyPr>
          <a:lstStyle/>
          <a:p>
            <a:r>
              <a:rPr lang="en-IN" b="1" dirty="0"/>
              <a:t>💡 Final Takeaway</a:t>
            </a:r>
            <a:endParaRPr lang="en-IN" dirty="0"/>
          </a:p>
          <a:p>
            <a:r>
              <a:rPr lang="en-IN" dirty="0"/>
              <a:t>Data becomes valuable only when it is transformed into actionable insights. This project demonstrates how analytics can support smarter decisions, optimize business performance, and drive sustainable growth.</a:t>
            </a:r>
          </a:p>
        </p:txBody>
      </p:sp>
      <p:sp>
        <p:nvSpPr>
          <p:cNvPr id="6" name="TextBox 5">
            <a:extLst>
              <a:ext uri="{FF2B5EF4-FFF2-40B4-BE49-F238E27FC236}">
                <a16:creationId xmlns:a16="http://schemas.microsoft.com/office/drawing/2014/main" id="{FF897152-7E63-52B3-5BE9-635F24600857}"/>
              </a:ext>
            </a:extLst>
          </p:cNvPr>
          <p:cNvSpPr txBox="1"/>
          <p:nvPr/>
        </p:nvSpPr>
        <p:spPr>
          <a:xfrm>
            <a:off x="7419372" y="2544673"/>
            <a:ext cx="3982592" cy="2862322"/>
          </a:xfrm>
          <a:prstGeom prst="rect">
            <a:avLst/>
          </a:prstGeom>
          <a:noFill/>
        </p:spPr>
        <p:txBody>
          <a:bodyPr wrap="square" rtlCol="0">
            <a:spAutoFit/>
          </a:bodyPr>
          <a:lstStyle/>
          <a:p>
            <a:r>
              <a:rPr lang="en-IN" b="1" dirty="0"/>
              <a:t>🎯 Key Achievements</a:t>
            </a:r>
          </a:p>
          <a:p>
            <a:r>
              <a:rPr lang="en-IN" dirty="0"/>
              <a:t>🏆 </a:t>
            </a:r>
            <a:r>
              <a:rPr lang="en-IN" b="1" dirty="0"/>
              <a:t>Revenue </a:t>
            </a:r>
            <a:r>
              <a:rPr lang="en-IN" b="1" dirty="0" err="1"/>
              <a:t>Analyzed</a:t>
            </a:r>
            <a:r>
              <a:rPr lang="en-IN" b="1" dirty="0"/>
              <a:t>:</a:t>
            </a:r>
            <a:r>
              <a:rPr lang="en-IN" dirty="0"/>
              <a:t> </a:t>
            </a:r>
            <a:r>
              <a:rPr lang="en-IN" b="1" dirty="0"/>
              <a:t>$247K</a:t>
            </a:r>
            <a:endParaRPr lang="en-IN" dirty="0"/>
          </a:p>
          <a:p>
            <a:r>
              <a:rPr lang="en-IN" dirty="0"/>
              <a:t>📦 </a:t>
            </a:r>
            <a:r>
              <a:rPr lang="en-IN" b="1" dirty="0"/>
              <a:t>Orders Evaluated:</a:t>
            </a:r>
            <a:r>
              <a:rPr lang="en-IN" dirty="0"/>
              <a:t> </a:t>
            </a:r>
            <a:r>
              <a:rPr lang="en-IN" b="1" dirty="0"/>
              <a:t>250</a:t>
            </a:r>
            <a:endParaRPr lang="en-IN" dirty="0"/>
          </a:p>
          <a:p>
            <a:r>
              <a:rPr lang="en-IN" dirty="0"/>
              <a:t>📈 </a:t>
            </a:r>
            <a:r>
              <a:rPr lang="en-IN" b="1" dirty="0"/>
              <a:t>Top Category:</a:t>
            </a:r>
            <a:r>
              <a:rPr lang="en-IN" dirty="0"/>
              <a:t> Electronics</a:t>
            </a:r>
          </a:p>
          <a:p>
            <a:r>
              <a:rPr lang="en-IN" dirty="0"/>
              <a:t>🛒 </a:t>
            </a:r>
            <a:r>
              <a:rPr lang="en-IN" b="1" dirty="0"/>
              <a:t>Best-Selling Product:</a:t>
            </a:r>
            <a:r>
              <a:rPr lang="en-IN" dirty="0"/>
              <a:t> Refrigerator</a:t>
            </a:r>
          </a:p>
          <a:p>
            <a:r>
              <a:rPr lang="en-IN" dirty="0"/>
              <a:t>💳 </a:t>
            </a:r>
            <a:r>
              <a:rPr lang="en-IN" b="1" dirty="0"/>
              <a:t>Most Preferred Payment Method:</a:t>
            </a:r>
            <a:r>
              <a:rPr lang="en-IN" dirty="0"/>
              <a:t> PayPal</a:t>
            </a:r>
          </a:p>
          <a:p>
            <a:r>
              <a:rPr lang="en-IN" dirty="0"/>
              <a:t>📍 </a:t>
            </a:r>
            <a:r>
              <a:rPr lang="en-IN" b="1" dirty="0"/>
              <a:t>Top Performing City:</a:t>
            </a:r>
            <a:r>
              <a:rPr lang="en-IN" dirty="0"/>
              <a:t> Miami</a:t>
            </a:r>
          </a:p>
          <a:p>
            <a:r>
              <a:rPr lang="en-IN" dirty="0"/>
              <a:t>📊 </a:t>
            </a:r>
            <a:r>
              <a:rPr lang="en-IN" b="1" dirty="0"/>
              <a:t>Validated Through:</a:t>
            </a:r>
            <a:r>
              <a:rPr lang="en-IN" dirty="0"/>
              <a:t> Correlation Analysis &amp; Dashboard Insights</a:t>
            </a:r>
          </a:p>
        </p:txBody>
      </p:sp>
    </p:spTree>
    <p:extLst>
      <p:ext uri="{BB962C8B-B14F-4D97-AF65-F5344CB8AC3E}">
        <p14:creationId xmlns:p14="http://schemas.microsoft.com/office/powerpoint/2010/main" val="307526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98F0A71-A54B-F38B-B3BD-6124F9802D28}"/>
              </a:ext>
            </a:extLst>
          </p:cNvPr>
          <p:cNvSpPr/>
          <p:nvPr/>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THANK YOU!</a:t>
            </a:r>
            <a:endParaRPr lang="en-IN" sz="4400" b="1" dirty="0"/>
          </a:p>
        </p:txBody>
      </p:sp>
      <p:sp>
        <p:nvSpPr>
          <p:cNvPr id="7" name="TextBox 6">
            <a:extLst>
              <a:ext uri="{FF2B5EF4-FFF2-40B4-BE49-F238E27FC236}">
                <a16:creationId xmlns:a16="http://schemas.microsoft.com/office/drawing/2014/main" id="{47FB46F8-5E69-64A2-96E0-F9A8F9B75A25}"/>
              </a:ext>
            </a:extLst>
          </p:cNvPr>
          <p:cNvSpPr txBox="1"/>
          <p:nvPr/>
        </p:nvSpPr>
        <p:spPr>
          <a:xfrm>
            <a:off x="3595773" y="4432839"/>
            <a:ext cx="4003907" cy="461665"/>
          </a:xfrm>
          <a:prstGeom prst="rect">
            <a:avLst/>
          </a:prstGeom>
          <a:noFill/>
        </p:spPr>
        <p:txBody>
          <a:bodyPr wrap="square" rtlCol="0">
            <a:spAutoFit/>
          </a:bodyPr>
          <a:lstStyle/>
          <a:p>
            <a:pPr algn="ctr"/>
            <a:r>
              <a:rPr lang="en-US" sz="2400" dirty="0">
                <a:solidFill>
                  <a:schemeClr val="bg1"/>
                </a:solidFill>
              </a:rPr>
              <a:t>Amazon Sales Analysis</a:t>
            </a:r>
            <a:endParaRPr lang="en-IN" sz="2400" dirty="0">
              <a:solidFill>
                <a:schemeClr val="bg1"/>
              </a:solidFill>
            </a:endParaRPr>
          </a:p>
        </p:txBody>
      </p:sp>
      <p:pic>
        <p:nvPicPr>
          <p:cNvPr id="10" name="Picture 9">
            <a:extLst>
              <a:ext uri="{FF2B5EF4-FFF2-40B4-BE49-F238E27FC236}">
                <a16:creationId xmlns:a16="http://schemas.microsoft.com/office/drawing/2014/main" id="{9CCE376C-A1AD-D1B5-8329-A38E5B06F7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45359" y="5760720"/>
            <a:ext cx="1432556" cy="716278"/>
          </a:xfrm>
          <a:prstGeom prst="rect">
            <a:avLst/>
          </a:prstGeom>
        </p:spPr>
      </p:pic>
      <p:sp>
        <p:nvSpPr>
          <p:cNvPr id="17" name="Rectangle 16">
            <a:extLst>
              <a:ext uri="{FF2B5EF4-FFF2-40B4-BE49-F238E27FC236}">
                <a16:creationId xmlns:a16="http://schemas.microsoft.com/office/drawing/2014/main" id="{68968D92-50EB-B5A5-B2B6-442E584FB303}"/>
              </a:ext>
            </a:extLst>
          </p:cNvPr>
          <p:cNvSpPr/>
          <p:nvPr/>
        </p:nvSpPr>
        <p:spPr>
          <a:xfrm>
            <a:off x="3142524" y="5819894"/>
            <a:ext cx="5821680" cy="369332"/>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IN" b="1" dirty="0"/>
              <a:t>Thank You for Your Time &amp; Consideration</a:t>
            </a:r>
          </a:p>
        </p:txBody>
      </p:sp>
      <p:sp>
        <p:nvSpPr>
          <p:cNvPr id="27" name="TextBox 26">
            <a:extLst>
              <a:ext uri="{FF2B5EF4-FFF2-40B4-BE49-F238E27FC236}">
                <a16:creationId xmlns:a16="http://schemas.microsoft.com/office/drawing/2014/main" id="{CF84BAF4-EFB8-F337-49BF-D55184A84651}"/>
              </a:ext>
            </a:extLst>
          </p:cNvPr>
          <p:cNvSpPr txBox="1"/>
          <p:nvPr/>
        </p:nvSpPr>
        <p:spPr>
          <a:xfrm flipH="1">
            <a:off x="3253830" y="5138056"/>
            <a:ext cx="5710374" cy="400110"/>
          </a:xfrm>
          <a:prstGeom prst="rect">
            <a:avLst/>
          </a:prstGeom>
          <a:noFill/>
        </p:spPr>
        <p:txBody>
          <a:bodyPr wrap="square" rtlCol="0">
            <a:spAutoFit/>
          </a:bodyPr>
          <a:lstStyle/>
          <a:p>
            <a:r>
              <a:rPr lang="en-IN" sz="2000" dirty="0">
                <a:latin typeface="Calibri" panose="020F0502020204030204" pitchFamily="34" charset="0"/>
                <a:ea typeface="Calibri" panose="020F0502020204030204" pitchFamily="34" charset="0"/>
                <a:cs typeface="Calibri" panose="020F0502020204030204" pitchFamily="34" charset="0"/>
              </a:rPr>
              <a:t>Turning Data into Meaningful Business Insights</a:t>
            </a:r>
          </a:p>
        </p:txBody>
      </p:sp>
    </p:spTree>
    <p:extLst>
      <p:ext uri="{BB962C8B-B14F-4D97-AF65-F5344CB8AC3E}">
        <p14:creationId xmlns:p14="http://schemas.microsoft.com/office/powerpoint/2010/main" val="5614331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309</TotalTime>
  <Words>1004</Words>
  <Application>Microsoft Office PowerPoint</Application>
  <PresentationFormat>Widescreen</PresentationFormat>
  <Paragraphs>141</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gbhanu2007@outlook.com</dc:creator>
  <cp:lastModifiedBy>gbhanu2007@outlook.com</cp:lastModifiedBy>
  <cp:revision>1</cp:revision>
  <dcterms:created xsi:type="dcterms:W3CDTF">2026-07-05T17:30:34Z</dcterms:created>
  <dcterms:modified xsi:type="dcterms:W3CDTF">2026-07-05T22:39:36Z</dcterms:modified>
</cp:coreProperties>
</file>